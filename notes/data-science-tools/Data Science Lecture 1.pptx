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91" r:id="rId3"/>
    <p:sldId id="292" r:id="rId4"/>
    <p:sldId id="293"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9" r:id="rId21"/>
    <p:sldId id="283" r:id="rId22"/>
    <p:sldId id="282" r:id="rId23"/>
    <p:sldId id="284" r:id="rId24"/>
    <p:sldId id="288" r:id="rId25"/>
    <p:sldId id="286" r:id="rId26"/>
    <p:sldId id="29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76667" autoAdjust="0"/>
  </p:normalViewPr>
  <p:slideViewPr>
    <p:cSldViewPr snapToGrid="0">
      <p:cViewPr varScale="1">
        <p:scale>
          <a:sx n="68" d="100"/>
          <a:sy n="68" d="100"/>
        </p:scale>
        <p:origin x="117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F296C4-2CD9-4D1F-BA20-BD74DDDC400F}" type="datetimeFigureOut">
              <a:rPr lang="en-US" smtClean="0"/>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E4AD49-6ADD-40B2-B3A0-C1CF67CD58B9}" type="slidenum">
              <a:rPr lang="en-US" smtClean="0"/>
              <a:t>‹#›</a:t>
            </a:fld>
            <a:endParaRPr lang="en-US"/>
          </a:p>
        </p:txBody>
      </p:sp>
    </p:spTree>
    <p:extLst>
      <p:ext uri="{BB962C8B-B14F-4D97-AF65-F5344CB8AC3E}">
        <p14:creationId xmlns:p14="http://schemas.microsoft.com/office/powerpoint/2010/main" val="686628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github.com/awesomedata/awesome-public-datasets"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github.com/sindresorhus/awesome" TargetMode="External"/><Relationship Id="rId5" Type="http://schemas.openxmlformats.org/officeDocument/2006/relationships/hyperlink" Target="https://github.com/Bai-Yu-Lan" TargetMode="External"/><Relationship Id="rId4" Type="http://schemas.openxmlformats.org/officeDocument/2006/relationships/hyperlink" Target="https://github.com/OMNILab"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HY,</a:t>
            </a:r>
            <a:r>
              <a:rPr lang="en-US" baseline="0" dirty="0" smtClean="0"/>
              <a:t> I AM FATIMA YOUSAF. Today am here to tell what, why and how of data science. By the end of my lecture, you will be able to know how data science is being used around you and how you can use data.</a:t>
            </a:r>
          </a:p>
          <a:p>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a:t>
            </a:fld>
            <a:endParaRPr lang="en-US"/>
          </a:p>
        </p:txBody>
      </p:sp>
    </p:spTree>
    <p:extLst>
      <p:ext uri="{BB962C8B-B14F-4D97-AF65-F5344CB8AC3E}">
        <p14:creationId xmlns:p14="http://schemas.microsoft.com/office/powerpoint/2010/main" val="4057039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5978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9675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If we Google "What is data science?", we'll see a huge amount of confusing information.</a:t>
            </a:r>
            <a:endParaRPr lang="en-US" dirty="0" smtClean="0"/>
          </a:p>
          <a:p>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5</a:t>
            </a:fld>
            <a:endParaRPr lang="en-US"/>
          </a:p>
        </p:txBody>
      </p:sp>
    </p:spTree>
    <p:extLst>
      <p:ext uri="{BB962C8B-B14F-4D97-AF65-F5344CB8AC3E}">
        <p14:creationId xmlns:p14="http://schemas.microsoft.com/office/powerpoint/2010/main" val="2127217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But data science is actually simple. It's a set of methodologies for taking in thousands of forms of data that are available to us today, and using them to draw meaningful conclusions. Data is being collected all around us. Every like, click, email, credit card swipe, or tweet is a new piece of data that can be used to better describe the present or predict the future.</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6</a:t>
            </a:fld>
            <a:endParaRPr lang="en-US"/>
          </a:p>
        </p:txBody>
      </p:sp>
    </p:spTree>
    <p:extLst>
      <p:ext uri="{BB962C8B-B14F-4D97-AF65-F5344CB8AC3E}">
        <p14:creationId xmlns:p14="http://schemas.microsoft.com/office/powerpoint/2010/main" val="3016976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 what can data do? Data can describe our current state, like our energy consumption. This can be accomplished with dashboards or alerts, simplifying time-intensive reporting processes. It can help detect anomalous events, such as fraudulent purchases. If we have data on what has happened previously, we can increase efficiency by automatically detecting a new event that is unexpected or abnormal. Data can also diagnose the causes of observed events and behaviors, for instance your activity on Spotify or Netflix. Rather than determining correlations between small numbers of events, data science techniques help us understand complex systems with many possible causes. Finally, data can predict future events, such as forecasting population size. We can use techniques to take various causes into account and predict potential outcomes. Further, we can evaluate the probability of our prediction mathematically to clarify our level of uncertainty.</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7</a:t>
            </a:fld>
            <a:endParaRPr lang="en-US"/>
          </a:p>
        </p:txBody>
      </p:sp>
    </p:spTree>
    <p:extLst>
      <p:ext uri="{BB962C8B-B14F-4D97-AF65-F5344CB8AC3E}">
        <p14:creationId xmlns:p14="http://schemas.microsoft.com/office/powerpoint/2010/main" val="3140312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 now we know what data science is. The next question is why is it so popular? The answer is pretty obvious: we're collecting more data than ever before. Suppose that you visit a car dealership and fill out some information.</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8</a:t>
            </a:fld>
            <a:endParaRPr lang="en-US"/>
          </a:p>
        </p:txBody>
      </p:sp>
    </p:spTree>
    <p:extLst>
      <p:ext uri="{BB962C8B-B14F-4D97-AF65-F5344CB8AC3E}">
        <p14:creationId xmlns:p14="http://schemas.microsoft.com/office/powerpoint/2010/main" val="1382968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All of that data is automatically entered into a computer, and combined with the data from hundreds of dealerships into one big database.</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9</a:t>
            </a:fld>
            <a:endParaRPr lang="en-US"/>
          </a:p>
        </p:txBody>
      </p:sp>
    </p:spTree>
    <p:extLst>
      <p:ext uri="{BB962C8B-B14F-4D97-AF65-F5344CB8AC3E}">
        <p14:creationId xmlns:p14="http://schemas.microsoft.com/office/powerpoint/2010/main" val="704989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Once we have that data, it's easy to use the email address that you provided when you bought that car to tie your car purchase data with your data from social media or web browsing. Suddenly, we have a very complete picture about everyone who purchased a car in the last year: their ages, their likes and dislikes, their families, their friends. This additional data can be used to predict what price you can pay for your car, and what other purchases you're likely to make, or how best to sell you insurance for that new car. Data is everywhere, and it's incredibly valuable information for businesses, organizations, and governments.</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10</a:t>
            </a:fld>
            <a:endParaRPr lang="en-US"/>
          </a:p>
        </p:txBody>
      </p:sp>
    </p:spTree>
    <p:extLst>
      <p:ext uri="{BB962C8B-B14F-4D97-AF65-F5344CB8AC3E}">
        <p14:creationId xmlns:p14="http://schemas.microsoft.com/office/powerpoint/2010/main" val="2389249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 how do we start to use data? In data science, we generally have four steps to any project. First, we collect data from many sources, such as surveys, web traffic results, geo-tagged social media posts, and financial transactions. Once collected, we store that data in a safe and accessible way.</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11</a:t>
            </a:fld>
            <a:endParaRPr lang="en-US"/>
          </a:p>
        </p:txBody>
      </p:sp>
    </p:spTree>
    <p:extLst>
      <p:ext uri="{BB962C8B-B14F-4D97-AF65-F5344CB8AC3E}">
        <p14:creationId xmlns:p14="http://schemas.microsoft.com/office/powerpoint/2010/main" val="1882824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At this point, data is in its raw form, so the next step is to prepare data. This includes "cleaning data", for instance finding missing or duplicate values, and converting data into a more organized format.</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12</a:t>
            </a:fld>
            <a:endParaRPr lang="en-US"/>
          </a:p>
        </p:txBody>
      </p:sp>
    </p:spTree>
    <p:extLst>
      <p:ext uri="{BB962C8B-B14F-4D97-AF65-F5344CB8AC3E}">
        <p14:creationId xmlns:p14="http://schemas.microsoft.com/office/powerpoint/2010/main" val="2569913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Then, we explore and visualize the cleaned data. This could involve building dashboards to track how the data changes over time or performing comparisons between two sets of data.</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13</a:t>
            </a:fld>
            <a:endParaRPr lang="en-US"/>
          </a:p>
        </p:txBody>
      </p:sp>
    </p:spTree>
    <p:extLst>
      <p:ext uri="{BB962C8B-B14F-4D97-AF65-F5344CB8AC3E}">
        <p14:creationId xmlns:p14="http://schemas.microsoft.com/office/powerpoint/2010/main" val="1824290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Finally, we run experiments and predictions on the data. For example, this could involve building a system that forecasts temperature changes or performing a test to find which web page acquires more customers.</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14</a:t>
            </a:fld>
            <a:endParaRPr lang="en-US"/>
          </a:p>
        </p:txBody>
      </p:sp>
    </p:spTree>
    <p:extLst>
      <p:ext uri="{BB962C8B-B14F-4D97-AF65-F5344CB8AC3E}">
        <p14:creationId xmlns:p14="http://schemas.microsoft.com/office/powerpoint/2010/main" val="4236878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You might be surprised to learn that there isn't a single job within data science. Generally, there's four jobs: Data Engineer, Data Analyst, Data Scientist, and Machine Learning Scientist. Let's explore each one.</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15</a:t>
            </a:fld>
            <a:endParaRPr lang="en-US"/>
          </a:p>
        </p:txBody>
      </p:sp>
    </p:spTree>
    <p:extLst>
      <p:ext uri="{BB962C8B-B14F-4D97-AF65-F5344CB8AC3E}">
        <p14:creationId xmlns:p14="http://schemas.microsoft.com/office/powerpoint/2010/main" val="2426003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Data engineers control the flow of data: they build custom data pipelines and storage systems. They design infrastructure so that data is not only collected, but easy to obtain and process. Within the data science workflow, they focus on the first stage: data collection and storage.</a:t>
            </a:r>
          </a:p>
          <a:p>
            <a:r>
              <a:rPr lang="en-US" sz="1200" b="0" i="0" kern="1200" dirty="0" smtClean="0">
                <a:solidFill>
                  <a:schemeClr val="tx1"/>
                </a:solidFill>
                <a:effectLst/>
                <a:latin typeface="+mn-lt"/>
                <a:ea typeface="+mn-ea"/>
                <a:cs typeface="+mn-cs"/>
              </a:rPr>
              <a:t>Data analysts describe the present via data. They do this by exploring the data and creating visualizations and dashboards. To do these tasks, they often have to clean data first. Analysts have less programming and stats experience than the other roles. Within the workflow, they focus on the middle two stages: data preparation and exploration and visualization.</a:t>
            </a:r>
          </a:p>
          <a:p>
            <a:r>
              <a:rPr lang="en-US" sz="1200" b="0" i="0" kern="1200" dirty="0" smtClean="0">
                <a:solidFill>
                  <a:schemeClr val="tx1"/>
                </a:solidFill>
                <a:effectLst/>
                <a:latin typeface="+mn-lt"/>
                <a:ea typeface="+mn-ea"/>
                <a:cs typeface="+mn-cs"/>
              </a:rPr>
              <a:t>Data Scientists have a strong background in statistics, enabling them to find new insights from data, rather than solely describing data. They also use traditional machine learning for prediction and forecasting. Within the workflow, they focus on the last three stages: data preparation and exploration and visualization, and experimentation and prediction.</a:t>
            </a:r>
          </a:p>
          <a:p>
            <a:r>
              <a:rPr lang="en-US" sz="1200" b="0" i="0" kern="1200" dirty="0" smtClean="0">
                <a:solidFill>
                  <a:schemeClr val="tx1"/>
                </a:solidFill>
                <a:effectLst/>
                <a:latin typeface="+mn-lt"/>
                <a:ea typeface="+mn-ea"/>
                <a:cs typeface="+mn-cs"/>
              </a:rPr>
              <a:t>Machine learning scientists are similar to data scientists, but with a machine learning specialization. Machine learning is perhaps the buzziest part of Data Science; it's used to extrapolate what's likely to be true from what we already know. These scientists use training data to classify larger, unrulier data, whether its to classify images that contain a car, or create a </a:t>
            </a:r>
            <a:r>
              <a:rPr lang="en-US" sz="1200" b="0" i="0" kern="1200" dirty="0" err="1" smtClean="0">
                <a:solidFill>
                  <a:schemeClr val="tx1"/>
                </a:solidFill>
                <a:effectLst/>
                <a:latin typeface="+mn-lt"/>
                <a:ea typeface="+mn-ea"/>
                <a:cs typeface="+mn-cs"/>
              </a:rPr>
              <a:t>chatbot</a:t>
            </a:r>
            <a:r>
              <a:rPr lang="en-US" sz="1200" b="0" i="0" kern="1200" dirty="0" smtClean="0">
                <a:solidFill>
                  <a:schemeClr val="tx1"/>
                </a:solidFill>
                <a:effectLst/>
                <a:latin typeface="+mn-lt"/>
                <a:ea typeface="+mn-ea"/>
                <a:cs typeface="+mn-cs"/>
              </a:rPr>
              <a:t>. They go beyond traditional machine learning with deep learning. Within the workflow, they do the last three stages with a strong focus on prediction.</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16</a:t>
            </a:fld>
            <a:endParaRPr lang="en-US"/>
          </a:p>
        </p:txBody>
      </p:sp>
    </p:spTree>
    <p:extLst>
      <p:ext uri="{BB962C8B-B14F-4D97-AF65-F5344CB8AC3E}">
        <p14:creationId xmlns:p14="http://schemas.microsoft.com/office/powerpoint/2010/main" val="121787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17</a:t>
            </a:fld>
            <a:endParaRPr lang="en-US"/>
          </a:p>
        </p:txBody>
      </p:sp>
    </p:spTree>
    <p:extLst>
      <p:ext uri="{BB962C8B-B14F-4D97-AF65-F5344CB8AC3E}">
        <p14:creationId xmlns:p14="http://schemas.microsoft.com/office/powerpoint/2010/main" val="2658756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This is a list of </a:t>
            </a:r>
            <a:r>
              <a:rPr lang="en-US" sz="1200" b="0" i="0" u="sng" kern="1200" dirty="0" smtClean="0">
                <a:solidFill>
                  <a:schemeClr val="tx1"/>
                </a:solidFill>
                <a:effectLst/>
                <a:latin typeface="+mn-lt"/>
                <a:ea typeface="+mn-ea"/>
                <a:cs typeface="+mn-cs"/>
                <a:hlinkClick r:id="rId3"/>
              </a:rPr>
              <a:t>topic-centric public data sources</a:t>
            </a:r>
            <a:r>
              <a:rPr lang="en-US" sz="1200" b="0" i="0" kern="1200" dirty="0" smtClean="0">
                <a:solidFill>
                  <a:schemeClr val="tx1"/>
                </a:solidFill>
                <a:effectLst/>
                <a:latin typeface="+mn-lt"/>
                <a:ea typeface="+mn-ea"/>
                <a:cs typeface="+mn-cs"/>
              </a:rPr>
              <a:t> in high quality. They are collected and tidied from blogs, answers, and user responses. Most of the data sets listed below are free, however, some are not. This project was incubated at </a:t>
            </a:r>
            <a:r>
              <a:rPr lang="en-US" sz="1200" b="0" i="0" u="sng" kern="1200" dirty="0" err="1" smtClean="0">
                <a:solidFill>
                  <a:schemeClr val="tx1"/>
                </a:solidFill>
                <a:effectLst/>
                <a:latin typeface="+mn-lt"/>
                <a:ea typeface="+mn-ea"/>
                <a:cs typeface="+mn-cs"/>
                <a:hlinkClick r:id="rId4"/>
              </a:rPr>
              <a:t>OMNILab</a:t>
            </a:r>
            <a:r>
              <a:rPr lang="en-US" sz="1200" b="0" i="0" kern="1200" dirty="0" smtClean="0">
                <a:solidFill>
                  <a:schemeClr val="tx1"/>
                </a:solidFill>
                <a:effectLst/>
                <a:latin typeface="+mn-lt"/>
                <a:ea typeface="+mn-ea"/>
                <a:cs typeface="+mn-cs"/>
              </a:rPr>
              <a:t>, Shanghai Jiao Tong University during </a:t>
            </a:r>
            <a:r>
              <a:rPr lang="en-US" sz="1200" b="0" i="0" kern="1200" dirty="0" err="1" smtClean="0">
                <a:solidFill>
                  <a:schemeClr val="tx1"/>
                </a:solidFill>
                <a:effectLst/>
                <a:latin typeface="+mn-lt"/>
                <a:ea typeface="+mn-ea"/>
                <a:cs typeface="+mn-cs"/>
              </a:rPr>
              <a:t>Xiaming</a:t>
            </a:r>
            <a:r>
              <a:rPr lang="en-US" sz="1200" b="0" i="0" kern="1200" dirty="0" smtClean="0">
                <a:solidFill>
                  <a:schemeClr val="tx1"/>
                </a:solidFill>
                <a:effectLst/>
                <a:latin typeface="+mn-lt"/>
                <a:ea typeface="+mn-ea"/>
                <a:cs typeface="+mn-cs"/>
              </a:rPr>
              <a:t> Chen's Ph.D. studies. </a:t>
            </a:r>
            <a:r>
              <a:rPr lang="en-US" sz="1200" b="0" i="0" kern="1200" dirty="0" err="1" smtClean="0">
                <a:solidFill>
                  <a:schemeClr val="tx1"/>
                </a:solidFill>
                <a:effectLst/>
                <a:latin typeface="+mn-lt"/>
                <a:ea typeface="+mn-ea"/>
                <a:cs typeface="+mn-cs"/>
              </a:rPr>
              <a:t>OMNILab</a:t>
            </a:r>
            <a:r>
              <a:rPr lang="en-US" sz="1200" b="0" i="0" kern="1200" dirty="0" smtClean="0">
                <a:solidFill>
                  <a:schemeClr val="tx1"/>
                </a:solidFill>
                <a:effectLst/>
                <a:latin typeface="+mn-lt"/>
                <a:ea typeface="+mn-ea"/>
                <a:cs typeface="+mn-cs"/>
              </a:rPr>
              <a:t> is now part of the </a:t>
            </a:r>
            <a:r>
              <a:rPr lang="en-US" sz="1200" b="0" i="0" u="sng" kern="1200" dirty="0" err="1" smtClean="0">
                <a:solidFill>
                  <a:schemeClr val="tx1"/>
                </a:solidFill>
                <a:effectLst/>
                <a:latin typeface="+mn-lt"/>
                <a:ea typeface="+mn-ea"/>
                <a:cs typeface="+mn-cs"/>
                <a:hlinkClick r:id="rId5"/>
              </a:rPr>
              <a:t>BaiYuLan</a:t>
            </a:r>
            <a:r>
              <a:rPr lang="en-US" sz="1200" b="0" i="0" u="sng" kern="1200" dirty="0" smtClean="0">
                <a:solidFill>
                  <a:schemeClr val="tx1"/>
                </a:solidFill>
                <a:effectLst/>
                <a:latin typeface="+mn-lt"/>
                <a:ea typeface="+mn-ea"/>
                <a:cs typeface="+mn-cs"/>
                <a:hlinkClick r:id="rId5"/>
              </a:rPr>
              <a:t> Open AI community</a:t>
            </a:r>
            <a:r>
              <a:rPr lang="en-US" sz="1200" b="0" i="0" kern="1200" dirty="0" smtClean="0">
                <a:solidFill>
                  <a:schemeClr val="tx1"/>
                </a:solidFill>
                <a:effectLst/>
                <a:latin typeface="+mn-lt"/>
                <a:ea typeface="+mn-ea"/>
                <a:cs typeface="+mn-cs"/>
              </a:rPr>
              <a:t>. Other amazingly awesome lists can be found in </a:t>
            </a:r>
            <a:r>
              <a:rPr lang="en-US" sz="1200" b="0" i="0" u="sng" kern="1200" dirty="0" err="1" smtClean="0">
                <a:solidFill>
                  <a:schemeClr val="tx1"/>
                </a:solidFill>
                <a:effectLst/>
                <a:latin typeface="+mn-lt"/>
                <a:ea typeface="+mn-ea"/>
                <a:cs typeface="+mn-cs"/>
                <a:hlinkClick r:id="rId6"/>
              </a:rPr>
              <a:t>sindresorhus's</a:t>
            </a:r>
            <a:r>
              <a:rPr lang="en-US" sz="1200" b="0" i="0" u="sng" kern="1200" dirty="0" smtClean="0">
                <a:solidFill>
                  <a:schemeClr val="tx1"/>
                </a:solidFill>
                <a:effectLst/>
                <a:latin typeface="+mn-lt"/>
                <a:ea typeface="+mn-ea"/>
                <a:cs typeface="+mn-cs"/>
                <a:hlinkClick r:id="rId6"/>
              </a:rPr>
              <a:t> awesome</a:t>
            </a:r>
            <a:r>
              <a:rPr lang="en-US" sz="1200" b="0" i="0" kern="1200" dirty="0" smtClean="0">
                <a:solidFill>
                  <a:schemeClr val="tx1"/>
                </a:solidFill>
                <a:effectLst/>
                <a:latin typeface="+mn-lt"/>
                <a:ea typeface="+mn-ea"/>
                <a:cs typeface="+mn-cs"/>
              </a:rPr>
              <a:t> list.</a:t>
            </a: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20</a:t>
            </a:fld>
            <a:endParaRPr lang="en-US"/>
          </a:p>
        </p:txBody>
      </p:sp>
    </p:spTree>
    <p:extLst>
      <p:ext uri="{BB962C8B-B14F-4D97-AF65-F5344CB8AC3E}">
        <p14:creationId xmlns:p14="http://schemas.microsoft.com/office/powerpoint/2010/main" val="1348796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project involves building a model to detect fraudulent transactions based on patterns in financial data (e.g., transaction amount, location, frequency). It can help financial institutions prevent fraud.</a:t>
            </a:r>
          </a:p>
          <a:p>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22</a:t>
            </a:fld>
            <a:endParaRPr lang="en-US"/>
          </a:p>
        </p:txBody>
      </p:sp>
    </p:spTree>
    <p:extLst>
      <p:ext uri="{BB962C8B-B14F-4D97-AF65-F5344CB8AC3E}">
        <p14:creationId xmlns:p14="http://schemas.microsoft.com/office/powerpoint/2010/main" val="480033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Problem Type:</a:t>
            </a:r>
            <a:r>
              <a:rPr lang="en-US" dirty="0" smtClean="0"/>
              <a:t> Collaborative filtering, content-based filtering</a:t>
            </a:r>
          </a:p>
          <a:p>
            <a:r>
              <a:rPr lang="en-US" b="1" dirty="0" smtClean="0"/>
              <a:t>Possible Tools:</a:t>
            </a:r>
            <a:r>
              <a:rPr lang="en-US" dirty="0" smtClean="0"/>
              <a:t> Python, </a:t>
            </a:r>
            <a:r>
              <a:rPr lang="en-US" dirty="0" err="1" smtClean="0"/>
              <a:t>scikit</a:t>
            </a:r>
            <a:r>
              <a:rPr lang="en-US" dirty="0" smtClean="0"/>
              <a:t>-learn, </a:t>
            </a:r>
            <a:r>
              <a:rPr lang="en-US" dirty="0" err="1" smtClean="0"/>
              <a:t>TensorFlow</a:t>
            </a:r>
            <a:r>
              <a:rPr lang="en-US" dirty="0" smtClean="0"/>
              <a:t>, </a:t>
            </a:r>
            <a:r>
              <a:rPr lang="en-US" dirty="0" err="1" smtClean="0"/>
              <a:t>Keras</a:t>
            </a:r>
            <a:endParaRPr lang="en-US" dirty="0" smtClean="0"/>
          </a:p>
          <a:p>
            <a:r>
              <a:rPr lang="en-US" b="1" dirty="0" smtClean="0"/>
              <a:t>Possible Model:</a:t>
            </a:r>
            <a:r>
              <a:rPr lang="en-US" dirty="0" smtClean="0"/>
              <a:t> Matrix Factorization, Neural Collaborative Filtering, Word </a:t>
            </a:r>
            <a:r>
              <a:rPr lang="en-US" dirty="0" err="1" smtClean="0"/>
              <a:t>Embeddings</a:t>
            </a:r>
            <a:endParaRPr lang="en-US" dirty="0" smtClean="0"/>
          </a:p>
          <a:p>
            <a:r>
              <a:rPr lang="en-US" b="1" dirty="0" smtClean="0"/>
              <a:t>Description:</a:t>
            </a:r>
            <a:r>
              <a:rPr lang="en-US" dirty="0" smtClean="0"/>
              <a:t> The project aims to recommend products to users based on their past purchases, browsing history, and demographic information. It can enhance user experience and increase sales.</a:t>
            </a:r>
          </a:p>
          <a:p>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23</a:t>
            </a:fld>
            <a:endParaRPr lang="en-US"/>
          </a:p>
        </p:txBody>
      </p:sp>
    </p:spTree>
    <p:extLst>
      <p:ext uri="{BB962C8B-B14F-4D97-AF65-F5344CB8AC3E}">
        <p14:creationId xmlns:p14="http://schemas.microsoft.com/office/powerpoint/2010/main" val="1284506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b="1" dirty="0" smtClean="0"/>
              <a:t>Problem Type:</a:t>
            </a:r>
            <a:r>
              <a:rPr lang="en-US" dirty="0" smtClean="0"/>
              <a:t> Classification or regression</a:t>
            </a:r>
          </a:p>
          <a:p>
            <a:pPr lvl="1"/>
            <a:r>
              <a:rPr lang="en-US" b="1" dirty="0" smtClean="0"/>
              <a:t>Possible Tools:</a:t>
            </a:r>
            <a:r>
              <a:rPr lang="en-US" dirty="0" smtClean="0"/>
              <a:t> Python, </a:t>
            </a:r>
            <a:r>
              <a:rPr lang="en-US" dirty="0" err="1" smtClean="0"/>
              <a:t>scikit</a:t>
            </a:r>
            <a:r>
              <a:rPr lang="en-US" dirty="0" smtClean="0"/>
              <a:t>-learn, </a:t>
            </a:r>
            <a:r>
              <a:rPr lang="en-US" dirty="0" err="1" smtClean="0"/>
              <a:t>TensorFlow</a:t>
            </a:r>
            <a:r>
              <a:rPr lang="en-US" dirty="0" smtClean="0"/>
              <a:t>, </a:t>
            </a:r>
            <a:r>
              <a:rPr lang="en-US" dirty="0" err="1" smtClean="0"/>
              <a:t>Keras</a:t>
            </a:r>
            <a:endParaRPr lang="en-US" dirty="0" smtClean="0"/>
          </a:p>
          <a:p>
            <a:pPr lvl="1"/>
            <a:r>
              <a:rPr lang="en-US" b="1" dirty="0" smtClean="0"/>
              <a:t>Possible Model:</a:t>
            </a:r>
            <a:r>
              <a:rPr lang="en-US" dirty="0" smtClean="0"/>
              <a:t> Logistic Regression, Random Forest, Gradient Boosting, Deep Learning</a:t>
            </a:r>
          </a:p>
          <a:p>
            <a:pPr lvl="1"/>
            <a:r>
              <a:rPr lang="en-US" b="1" dirty="0" smtClean="0"/>
              <a:t>Description:</a:t>
            </a:r>
            <a:r>
              <a:rPr lang="en-US" dirty="0" smtClean="0"/>
              <a:t> This project involves predicting the likelihood of disease (e.g., diabetes, heart disease) based on patient data. The model can use features such as demographics, medical history, and lifestyle factors to make predictions.</a:t>
            </a:r>
            <a:br>
              <a:rPr lang="en-US" dirty="0" smtClean="0"/>
            </a:br>
            <a:endParaRPr lang="en-US" dirty="0"/>
          </a:p>
        </p:txBody>
      </p:sp>
      <p:sp>
        <p:nvSpPr>
          <p:cNvPr id="4" name="Slide Number Placeholder 3"/>
          <p:cNvSpPr>
            <a:spLocks noGrp="1"/>
          </p:cNvSpPr>
          <p:nvPr>
            <p:ph type="sldNum" sz="quarter" idx="10"/>
          </p:nvPr>
        </p:nvSpPr>
        <p:spPr/>
        <p:txBody>
          <a:bodyPr/>
          <a:lstStyle/>
          <a:p>
            <a:fld id="{B6E4AD49-6ADD-40B2-B3A0-C1CF67CD58B9}" type="slidenum">
              <a:rPr lang="en-US" smtClean="0"/>
              <a:t>24</a:t>
            </a:fld>
            <a:endParaRPr lang="en-US"/>
          </a:p>
        </p:txBody>
      </p:sp>
    </p:spTree>
    <p:extLst>
      <p:ext uri="{BB962C8B-B14F-4D97-AF65-F5344CB8AC3E}">
        <p14:creationId xmlns:p14="http://schemas.microsoft.com/office/powerpoint/2010/main" val="229414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189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2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6"/>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2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794058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
        <p:cNvGrpSpPr/>
        <p:nvPr/>
      </p:nvGrpSpPr>
      <p:grpSpPr>
        <a:xfrm>
          <a:off x="0" y="0"/>
          <a:ext cx="0" cy="0"/>
          <a:chOff x="0" y="0"/>
          <a:chExt cx="0" cy="0"/>
        </a:xfrm>
      </p:grpSpPr>
      <p:sp>
        <p:nvSpPr>
          <p:cNvPr id="24" name="Google Shape;24;p2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 name="Google Shape;25;p29"/>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0"/>
              </a:spcBef>
              <a:spcAft>
                <a:spcPts val="0"/>
              </a:spcAft>
              <a:buSzPts val="1200"/>
              <a:buChar char="○"/>
              <a:defRPr sz="1600"/>
            </a:lvl2pPr>
            <a:lvl3pPr marL="1828754" lvl="2" indent="-406390" algn="l">
              <a:lnSpc>
                <a:spcPct val="115000"/>
              </a:lnSpc>
              <a:spcBef>
                <a:spcPts val="0"/>
              </a:spcBef>
              <a:spcAft>
                <a:spcPts val="0"/>
              </a:spcAft>
              <a:buSzPts val="1200"/>
              <a:buChar char="■"/>
              <a:defRPr sz="1600"/>
            </a:lvl3pPr>
            <a:lvl4pPr marL="2438339" lvl="3" indent="-406390" algn="l">
              <a:lnSpc>
                <a:spcPct val="115000"/>
              </a:lnSpc>
              <a:spcBef>
                <a:spcPts val="0"/>
              </a:spcBef>
              <a:spcAft>
                <a:spcPts val="0"/>
              </a:spcAft>
              <a:buSzPts val="1200"/>
              <a:buChar char="●"/>
              <a:defRPr sz="1600"/>
            </a:lvl4pPr>
            <a:lvl5pPr marL="3047924" lvl="4" indent="-406390" algn="l">
              <a:lnSpc>
                <a:spcPct val="115000"/>
              </a:lnSpc>
              <a:spcBef>
                <a:spcPts val="0"/>
              </a:spcBef>
              <a:spcAft>
                <a:spcPts val="0"/>
              </a:spcAft>
              <a:buSzPts val="1200"/>
              <a:buChar char="○"/>
              <a:defRPr sz="1600"/>
            </a:lvl5pPr>
            <a:lvl6pPr marL="3657509" lvl="5" indent="-406390" algn="l">
              <a:lnSpc>
                <a:spcPct val="115000"/>
              </a:lnSpc>
              <a:spcBef>
                <a:spcPts val="0"/>
              </a:spcBef>
              <a:spcAft>
                <a:spcPts val="0"/>
              </a:spcAft>
              <a:buSzPts val="1200"/>
              <a:buChar char="■"/>
              <a:defRPr sz="1600"/>
            </a:lvl6pPr>
            <a:lvl7pPr marL="4267093" lvl="6" indent="-406390" algn="l">
              <a:lnSpc>
                <a:spcPct val="115000"/>
              </a:lnSpc>
              <a:spcBef>
                <a:spcPts val="0"/>
              </a:spcBef>
              <a:spcAft>
                <a:spcPts val="0"/>
              </a:spcAft>
              <a:buSzPts val="1200"/>
              <a:buChar char="●"/>
              <a:defRPr sz="1600"/>
            </a:lvl7pPr>
            <a:lvl8pPr marL="4876678" lvl="7" indent="-406390" algn="l">
              <a:lnSpc>
                <a:spcPct val="115000"/>
              </a:lnSpc>
              <a:spcBef>
                <a:spcPts val="0"/>
              </a:spcBef>
              <a:spcAft>
                <a:spcPts val="0"/>
              </a:spcAft>
              <a:buSzPts val="1200"/>
              <a:buChar char="○"/>
              <a:defRPr sz="1600"/>
            </a:lvl8pPr>
            <a:lvl9pPr marL="5486263" lvl="8" indent="-406390" algn="l">
              <a:lnSpc>
                <a:spcPct val="115000"/>
              </a:lnSpc>
              <a:spcBef>
                <a:spcPts val="0"/>
              </a:spcBef>
              <a:spcAft>
                <a:spcPts val="0"/>
              </a:spcAft>
              <a:buSzPts val="1200"/>
              <a:buChar char="■"/>
              <a:defRPr sz="1600"/>
            </a:lvl9pPr>
          </a:lstStyle>
          <a:p>
            <a:endParaRPr/>
          </a:p>
        </p:txBody>
      </p:sp>
      <p:sp>
        <p:nvSpPr>
          <p:cNvPr id="26" name="Google Shape;26;p29"/>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0"/>
              </a:spcBef>
              <a:spcAft>
                <a:spcPts val="0"/>
              </a:spcAft>
              <a:buSzPts val="1200"/>
              <a:buChar char="○"/>
              <a:defRPr sz="1600"/>
            </a:lvl2pPr>
            <a:lvl3pPr marL="1828754" lvl="2" indent="-406390" algn="l">
              <a:lnSpc>
                <a:spcPct val="115000"/>
              </a:lnSpc>
              <a:spcBef>
                <a:spcPts val="0"/>
              </a:spcBef>
              <a:spcAft>
                <a:spcPts val="0"/>
              </a:spcAft>
              <a:buSzPts val="1200"/>
              <a:buChar char="■"/>
              <a:defRPr sz="1600"/>
            </a:lvl3pPr>
            <a:lvl4pPr marL="2438339" lvl="3" indent="-406390" algn="l">
              <a:lnSpc>
                <a:spcPct val="115000"/>
              </a:lnSpc>
              <a:spcBef>
                <a:spcPts val="0"/>
              </a:spcBef>
              <a:spcAft>
                <a:spcPts val="0"/>
              </a:spcAft>
              <a:buSzPts val="1200"/>
              <a:buChar char="●"/>
              <a:defRPr sz="1600"/>
            </a:lvl4pPr>
            <a:lvl5pPr marL="3047924" lvl="4" indent="-406390" algn="l">
              <a:lnSpc>
                <a:spcPct val="115000"/>
              </a:lnSpc>
              <a:spcBef>
                <a:spcPts val="0"/>
              </a:spcBef>
              <a:spcAft>
                <a:spcPts val="0"/>
              </a:spcAft>
              <a:buSzPts val="1200"/>
              <a:buChar char="○"/>
              <a:defRPr sz="1600"/>
            </a:lvl5pPr>
            <a:lvl6pPr marL="3657509" lvl="5" indent="-406390" algn="l">
              <a:lnSpc>
                <a:spcPct val="115000"/>
              </a:lnSpc>
              <a:spcBef>
                <a:spcPts val="0"/>
              </a:spcBef>
              <a:spcAft>
                <a:spcPts val="0"/>
              </a:spcAft>
              <a:buSzPts val="1200"/>
              <a:buChar char="■"/>
              <a:defRPr sz="1600"/>
            </a:lvl6pPr>
            <a:lvl7pPr marL="4267093" lvl="6" indent="-406390" algn="l">
              <a:lnSpc>
                <a:spcPct val="115000"/>
              </a:lnSpc>
              <a:spcBef>
                <a:spcPts val="0"/>
              </a:spcBef>
              <a:spcAft>
                <a:spcPts val="0"/>
              </a:spcAft>
              <a:buSzPts val="1200"/>
              <a:buChar char="●"/>
              <a:defRPr sz="1600"/>
            </a:lvl7pPr>
            <a:lvl8pPr marL="4876678" lvl="7" indent="-406390" algn="l">
              <a:lnSpc>
                <a:spcPct val="115000"/>
              </a:lnSpc>
              <a:spcBef>
                <a:spcPts val="0"/>
              </a:spcBef>
              <a:spcAft>
                <a:spcPts val="0"/>
              </a:spcAft>
              <a:buSzPts val="1200"/>
              <a:buChar char="○"/>
              <a:defRPr sz="1600"/>
            </a:lvl8pPr>
            <a:lvl9pPr marL="5486263" lvl="8" indent="-406390" algn="l">
              <a:lnSpc>
                <a:spcPct val="115000"/>
              </a:lnSpc>
              <a:spcBef>
                <a:spcPts val="0"/>
              </a:spcBef>
              <a:spcAft>
                <a:spcPts val="0"/>
              </a:spcAft>
              <a:buSzPts val="1200"/>
              <a:buChar char="■"/>
              <a:defRPr sz="1600"/>
            </a:lvl9pPr>
          </a:lstStyle>
          <a:p>
            <a:endParaRPr/>
          </a:p>
        </p:txBody>
      </p:sp>
      <p:sp>
        <p:nvSpPr>
          <p:cNvPr id="27" name="Google Shape;27;p2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61196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10/6/2025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 id="2147483666" r:id="rId18"/>
    <p:sldLayoutId id="2147483667" r:id="rId19"/>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rchive.ics.uci.edu/" TargetMode="External"/><Relationship Id="rId7" Type="http://schemas.openxmlformats.org/officeDocument/2006/relationships/hyperlink" Target="https://github.com/awesomedata/awesome-public-dataset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data.worldbank.org/" TargetMode="External"/><Relationship Id="rId5" Type="http://schemas.openxmlformats.org/officeDocument/2006/relationships/hyperlink" Target="https://alternativedata.org/data_provider/quandl/" TargetMode="External"/><Relationship Id="rId4" Type="http://schemas.openxmlformats.org/officeDocument/2006/relationships/hyperlink" Target="https://data.gov/"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Science</a:t>
            </a:r>
            <a:endParaRPr lang="en-US" dirty="0"/>
          </a:p>
        </p:txBody>
      </p:sp>
      <p:sp>
        <p:nvSpPr>
          <p:cNvPr id="3" name="Subtitle 2"/>
          <p:cNvSpPr>
            <a:spLocks noGrp="1"/>
          </p:cNvSpPr>
          <p:nvPr>
            <p:ph type="subTitle" idx="1"/>
          </p:nvPr>
        </p:nvSpPr>
        <p:spPr/>
        <p:txBody>
          <a:bodyPr>
            <a:normAutofit lnSpcReduction="10000"/>
          </a:bodyPr>
          <a:lstStyle/>
          <a:p>
            <a:r>
              <a:rPr lang="en-US" dirty="0" smtClean="0"/>
              <a:t>Fatima </a:t>
            </a:r>
            <a:r>
              <a:rPr lang="en-US" dirty="0" err="1" smtClean="0"/>
              <a:t>Yousaf</a:t>
            </a:r>
            <a:endParaRPr lang="en-US" dirty="0" smtClean="0"/>
          </a:p>
          <a:p>
            <a:r>
              <a:rPr lang="en-US" dirty="0" smtClean="0"/>
              <a:t>Lecturer,</a:t>
            </a:r>
          </a:p>
          <a:p>
            <a:r>
              <a:rPr lang="en-US" dirty="0" smtClean="0"/>
              <a:t>Department of Computer Science</a:t>
            </a:r>
            <a:endParaRPr lang="en-US" dirty="0"/>
          </a:p>
        </p:txBody>
      </p:sp>
    </p:spTree>
    <p:extLst>
      <p:ext uri="{BB962C8B-B14F-4D97-AF65-F5344CB8AC3E}">
        <p14:creationId xmlns:p14="http://schemas.microsoft.com/office/powerpoint/2010/main" val="1702558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526200" y="441300"/>
            <a:ext cx="11360800" cy="763600"/>
          </a:xfrm>
          <a:prstGeom prst="rect">
            <a:avLst/>
          </a:prstGeom>
          <a:noFill/>
          <a:ln>
            <a:noFill/>
          </a:ln>
        </p:spPr>
        <p:txBody>
          <a:bodyPr spcFirstLastPara="1" vert="horz" wrap="square" lIns="121900" tIns="121900" rIns="121900" bIns="121900" rtlCol="0" anchor="t" anchorCtr="0">
            <a:noAutofit/>
          </a:bodyPr>
          <a:lstStyle/>
          <a:p>
            <a:pPr>
              <a:buSzPts val="990"/>
            </a:pPr>
            <a:r>
              <a:rPr lang="en" sz="4027" b="1"/>
              <a:t>Relationship in AI, ML and DL</a:t>
            </a:r>
            <a:endParaRPr sz="4027" b="1"/>
          </a:p>
        </p:txBody>
      </p:sp>
      <p:grpSp>
        <p:nvGrpSpPr>
          <p:cNvPr id="84" name="Google Shape;84;p16"/>
          <p:cNvGrpSpPr/>
          <p:nvPr/>
        </p:nvGrpSpPr>
        <p:grpSpPr>
          <a:xfrm>
            <a:off x="1128223" y="1493381"/>
            <a:ext cx="10095031" cy="5302953"/>
            <a:chOff x="933200" y="826475"/>
            <a:chExt cx="7043700" cy="3803400"/>
          </a:xfrm>
        </p:grpSpPr>
        <p:sp>
          <p:nvSpPr>
            <p:cNvPr id="85" name="Google Shape;85;p16"/>
            <p:cNvSpPr/>
            <p:nvPr/>
          </p:nvSpPr>
          <p:spPr>
            <a:xfrm>
              <a:off x="933200" y="826475"/>
              <a:ext cx="7043700" cy="380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86" name="Google Shape;86;p16"/>
            <p:cNvSpPr/>
            <p:nvPr/>
          </p:nvSpPr>
          <p:spPr>
            <a:xfrm>
              <a:off x="2732775" y="1227300"/>
              <a:ext cx="4977600" cy="2688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87" name="Google Shape;87;p16"/>
            <p:cNvSpPr/>
            <p:nvPr/>
          </p:nvSpPr>
          <p:spPr>
            <a:xfrm>
              <a:off x="3592975" y="2426350"/>
              <a:ext cx="2785200" cy="1208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88" name="Google Shape;88;p16"/>
            <p:cNvSpPr txBox="1"/>
            <p:nvPr/>
          </p:nvSpPr>
          <p:spPr>
            <a:xfrm>
              <a:off x="1068975" y="2312500"/>
              <a:ext cx="1888800" cy="1089024"/>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867">
                  <a:solidFill>
                    <a:srgbClr val="000000"/>
                  </a:solidFill>
                  <a:latin typeface="Arial"/>
                  <a:ea typeface="Arial"/>
                  <a:cs typeface="Arial"/>
                  <a:sym typeface="Arial"/>
                </a:rPr>
                <a:t>Artificial Intelligence:</a:t>
              </a:r>
              <a:endParaRPr sz="1867">
                <a:solidFill>
                  <a:srgbClr val="000000"/>
                </a:solidFill>
                <a:latin typeface="Arial"/>
                <a:ea typeface="Arial"/>
                <a:cs typeface="Arial"/>
                <a:sym typeface="Arial"/>
              </a:endParaRPr>
            </a:p>
            <a:p>
              <a:pPr>
                <a:buClr>
                  <a:srgbClr val="000000"/>
                </a:buClr>
                <a:buSzPts val="1000"/>
              </a:pPr>
              <a:r>
                <a:rPr lang="en" sz="1600">
                  <a:solidFill>
                    <a:srgbClr val="000000"/>
                  </a:solidFill>
                  <a:latin typeface="Arial"/>
                  <a:ea typeface="Arial"/>
                  <a:cs typeface="Arial"/>
                  <a:sym typeface="Arial"/>
                </a:rPr>
                <a:t>Search Algorithms, Rule Based Systems, Statistical Inference, Machine Learning </a:t>
              </a:r>
              <a:endParaRPr sz="1600">
                <a:solidFill>
                  <a:srgbClr val="000000"/>
                </a:solidFill>
                <a:latin typeface="Arial"/>
                <a:ea typeface="Arial"/>
                <a:cs typeface="Arial"/>
                <a:sym typeface="Arial"/>
              </a:endParaRPr>
            </a:p>
          </p:txBody>
        </p:sp>
        <p:sp>
          <p:nvSpPr>
            <p:cNvPr id="89" name="Google Shape;89;p16"/>
            <p:cNvSpPr txBox="1"/>
            <p:nvPr/>
          </p:nvSpPr>
          <p:spPr>
            <a:xfrm>
              <a:off x="4282900" y="1466900"/>
              <a:ext cx="1951800" cy="912427"/>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867">
                  <a:solidFill>
                    <a:srgbClr val="000000"/>
                  </a:solidFill>
                  <a:latin typeface="Arial"/>
                  <a:ea typeface="Arial"/>
                  <a:cs typeface="Arial"/>
                  <a:sym typeface="Arial"/>
                </a:rPr>
                <a:t>Machine Learning:</a:t>
              </a:r>
              <a:endParaRPr sz="1867">
                <a:solidFill>
                  <a:srgbClr val="000000"/>
                </a:solidFill>
                <a:latin typeface="Arial"/>
                <a:ea typeface="Arial"/>
                <a:cs typeface="Arial"/>
                <a:sym typeface="Arial"/>
              </a:endParaRPr>
            </a:p>
            <a:p>
              <a:pPr>
                <a:buClr>
                  <a:srgbClr val="000000"/>
                </a:buClr>
                <a:buSzPts val="1000"/>
              </a:pPr>
              <a:r>
                <a:rPr lang="en" sz="1600">
                  <a:solidFill>
                    <a:srgbClr val="000000"/>
                  </a:solidFill>
                  <a:latin typeface="Arial"/>
                  <a:ea typeface="Arial"/>
                  <a:cs typeface="Arial"/>
                  <a:sym typeface="Arial"/>
                </a:rPr>
                <a:t>SVM, Tree Algorithms, Nearest neighbors, bagging, boosting, Deep Learning</a:t>
              </a:r>
              <a:endParaRPr sz="1600">
                <a:solidFill>
                  <a:srgbClr val="000000"/>
                </a:solidFill>
                <a:latin typeface="Arial"/>
                <a:ea typeface="Arial"/>
                <a:cs typeface="Arial"/>
                <a:sym typeface="Arial"/>
              </a:endParaRPr>
            </a:p>
          </p:txBody>
        </p:sp>
        <p:sp>
          <p:nvSpPr>
            <p:cNvPr id="90" name="Google Shape;90;p16"/>
            <p:cNvSpPr txBox="1"/>
            <p:nvPr/>
          </p:nvSpPr>
          <p:spPr>
            <a:xfrm>
              <a:off x="4200650" y="2639050"/>
              <a:ext cx="1951800" cy="912427"/>
            </a:xfrm>
            <a:prstGeom prst="rect">
              <a:avLst/>
            </a:prstGeom>
            <a:noFill/>
            <a:ln>
              <a:noFill/>
            </a:ln>
          </p:spPr>
          <p:txBody>
            <a:bodyPr spcFirstLastPara="1" wrap="square" lIns="121900" tIns="121900" rIns="121900" bIns="121900" anchor="t" anchorCtr="0">
              <a:spAutoFit/>
            </a:bodyPr>
            <a:lstStyle/>
            <a:p>
              <a:pPr>
                <a:buClr>
                  <a:srgbClr val="000000"/>
                </a:buClr>
                <a:buSzPts val="1200"/>
              </a:pPr>
              <a:r>
                <a:rPr lang="en" sz="1867">
                  <a:solidFill>
                    <a:srgbClr val="000000"/>
                  </a:solidFill>
                  <a:latin typeface="Arial"/>
                  <a:ea typeface="Arial"/>
                  <a:cs typeface="Arial"/>
                  <a:sym typeface="Arial"/>
                </a:rPr>
                <a:t>Deep Learning:</a:t>
              </a:r>
              <a:endParaRPr sz="1867">
                <a:solidFill>
                  <a:srgbClr val="000000"/>
                </a:solidFill>
                <a:latin typeface="Arial"/>
                <a:ea typeface="Arial"/>
                <a:cs typeface="Arial"/>
                <a:sym typeface="Arial"/>
              </a:endParaRPr>
            </a:p>
            <a:p>
              <a:pPr>
                <a:buClr>
                  <a:srgbClr val="000000"/>
                </a:buClr>
                <a:buSzPts val="1000"/>
              </a:pPr>
              <a:r>
                <a:rPr lang="en" sz="1600">
                  <a:solidFill>
                    <a:srgbClr val="000000"/>
                  </a:solidFill>
                  <a:latin typeface="Arial"/>
                  <a:ea typeface="Arial"/>
                  <a:cs typeface="Arial"/>
                  <a:sym typeface="Arial"/>
                </a:rPr>
                <a:t>FCNs, CNNs, RNNs, Transformers, Autoencoders, GANs</a:t>
              </a:r>
              <a:endParaRPr sz="1600">
                <a:solidFill>
                  <a:srgbClr val="000000"/>
                </a:solidFill>
                <a:latin typeface="Arial"/>
                <a:ea typeface="Arial"/>
                <a:cs typeface="Arial"/>
                <a:sym typeface="Arial"/>
              </a:endParaRPr>
            </a:p>
          </p:txBody>
        </p:sp>
      </p:grpSp>
      <p:sp>
        <p:nvSpPr>
          <p:cNvPr id="91" name="Google Shape;91;p16"/>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
              <a:pPr/>
              <a:t>2</a:t>
            </a:fld>
            <a:endParaRPr/>
          </a:p>
        </p:txBody>
      </p:sp>
    </p:spTree>
    <p:extLst>
      <p:ext uri="{BB962C8B-B14F-4D97-AF65-F5344CB8AC3E}">
        <p14:creationId xmlns:p14="http://schemas.microsoft.com/office/powerpoint/2010/main" val="3382390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3"/>
          <p:cNvSpPr txBox="1">
            <a:spLocks noGrp="1"/>
          </p:cNvSpPr>
          <p:nvPr>
            <p:ph type="title"/>
          </p:nvPr>
        </p:nvSpPr>
        <p:spPr>
          <a:xfrm>
            <a:off x="6914100" y="773033"/>
            <a:ext cx="50352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en" b="1"/>
              <a:t>Machine Learning</a:t>
            </a:r>
            <a:endParaRPr b="1"/>
          </a:p>
        </p:txBody>
      </p:sp>
      <p:sp>
        <p:nvSpPr>
          <p:cNvPr id="122" name="Google Shape;122;p13"/>
          <p:cNvSpPr txBox="1">
            <a:spLocks noGrp="1"/>
          </p:cNvSpPr>
          <p:nvPr>
            <p:ph type="body" idx="1"/>
          </p:nvPr>
        </p:nvSpPr>
        <p:spPr>
          <a:xfrm>
            <a:off x="415600" y="1536633"/>
            <a:ext cx="5035200" cy="1892400"/>
          </a:xfrm>
          <a:prstGeom prst="rect">
            <a:avLst/>
          </a:prstGeom>
          <a:noFill/>
          <a:ln>
            <a:noFill/>
          </a:ln>
        </p:spPr>
        <p:txBody>
          <a:bodyPr spcFirstLastPara="1" vert="horz" wrap="square" lIns="121900" tIns="121900" rIns="121900" bIns="121900" rtlCol="0" anchor="t" anchorCtr="0">
            <a:normAutofit fontScale="92500" lnSpcReduction="20000"/>
          </a:bodyPr>
          <a:lstStyle/>
          <a:p>
            <a:pPr marL="0" indent="0" algn="just">
              <a:spcAft>
                <a:spcPts val="1600"/>
              </a:spcAft>
              <a:buSzPct val="100900"/>
              <a:buNone/>
            </a:pPr>
            <a:r>
              <a:rPr lang="en" sz="2000">
                <a:solidFill>
                  <a:schemeClr val="dk1"/>
                </a:solidFill>
              </a:rPr>
              <a:t>Artificial Intelligence is the </a:t>
            </a:r>
            <a:r>
              <a:rPr lang="en" sz="2000" b="1">
                <a:solidFill>
                  <a:srgbClr val="CC0000"/>
                </a:solidFill>
              </a:rPr>
              <a:t>branch</a:t>
            </a:r>
            <a:r>
              <a:rPr lang="en" sz="2000"/>
              <a:t> </a:t>
            </a:r>
            <a:r>
              <a:rPr lang="en" sz="2000">
                <a:solidFill>
                  <a:schemeClr val="dk1"/>
                </a:solidFill>
              </a:rPr>
              <a:t>of </a:t>
            </a:r>
            <a:r>
              <a:rPr lang="en" sz="2000" b="1">
                <a:solidFill>
                  <a:srgbClr val="CC0000"/>
                </a:solidFill>
              </a:rPr>
              <a:t>computer science</a:t>
            </a:r>
            <a:r>
              <a:rPr lang="en" sz="2000"/>
              <a:t> </a:t>
            </a:r>
            <a:r>
              <a:rPr lang="en" sz="2000">
                <a:solidFill>
                  <a:schemeClr val="dk1"/>
                </a:solidFill>
              </a:rPr>
              <a:t>concerned with development of</a:t>
            </a:r>
            <a:r>
              <a:rPr lang="en" sz="2000"/>
              <a:t> </a:t>
            </a:r>
            <a:r>
              <a:rPr lang="en" sz="2000" b="1">
                <a:solidFill>
                  <a:srgbClr val="CC0000"/>
                </a:solidFill>
              </a:rPr>
              <a:t>methods</a:t>
            </a:r>
            <a:r>
              <a:rPr lang="en" sz="2000"/>
              <a:t> </a:t>
            </a:r>
            <a:r>
              <a:rPr lang="en" sz="2000">
                <a:solidFill>
                  <a:schemeClr val="dk1"/>
                </a:solidFill>
              </a:rPr>
              <a:t>that</a:t>
            </a:r>
            <a:r>
              <a:rPr lang="en" sz="2000"/>
              <a:t> </a:t>
            </a:r>
            <a:r>
              <a:rPr lang="en" sz="2000" b="1">
                <a:solidFill>
                  <a:srgbClr val="CC0000"/>
                </a:solidFill>
              </a:rPr>
              <a:t>allow computers to learn without explicit programming.</a:t>
            </a:r>
            <a:endParaRPr sz="2000" b="1">
              <a:solidFill>
                <a:srgbClr val="CC0000"/>
              </a:solidFill>
            </a:endParaRPr>
          </a:p>
        </p:txBody>
      </p:sp>
      <p:sp>
        <p:nvSpPr>
          <p:cNvPr id="123" name="Google Shape;123;p13"/>
          <p:cNvSpPr txBox="1">
            <a:spLocks noGrp="1"/>
          </p:cNvSpPr>
          <p:nvPr>
            <p:ph type="body" idx="2"/>
          </p:nvPr>
        </p:nvSpPr>
        <p:spPr>
          <a:xfrm>
            <a:off x="6443200" y="1536633"/>
            <a:ext cx="5333200" cy="2054000"/>
          </a:xfrm>
          <a:prstGeom prst="rect">
            <a:avLst/>
          </a:prstGeom>
          <a:noFill/>
          <a:ln>
            <a:noFill/>
          </a:ln>
        </p:spPr>
        <p:txBody>
          <a:bodyPr spcFirstLastPara="1" vert="horz" wrap="square" lIns="121900" tIns="121900" rIns="121900" bIns="121900" rtlCol="0" anchor="t" anchorCtr="0">
            <a:normAutofit lnSpcReduction="10000"/>
          </a:bodyPr>
          <a:lstStyle/>
          <a:p>
            <a:pPr marL="0" indent="0" algn="just">
              <a:spcAft>
                <a:spcPts val="1600"/>
              </a:spcAft>
              <a:buNone/>
            </a:pPr>
            <a:r>
              <a:rPr lang="en">
                <a:solidFill>
                  <a:schemeClr val="dk1"/>
                </a:solidFill>
              </a:rPr>
              <a:t>Machine Learning is a</a:t>
            </a:r>
            <a:r>
              <a:rPr lang="en" b="1">
                <a:solidFill>
                  <a:srgbClr val="CC0000"/>
                </a:solidFill>
              </a:rPr>
              <a:t> branch of AI</a:t>
            </a:r>
            <a:r>
              <a:rPr lang="en"/>
              <a:t>,</a:t>
            </a:r>
            <a:r>
              <a:rPr lang="en">
                <a:solidFill>
                  <a:schemeClr val="dk1"/>
                </a:solidFill>
              </a:rPr>
              <a:t> which focuses on</a:t>
            </a:r>
            <a:r>
              <a:rPr lang="en"/>
              <a:t> </a:t>
            </a:r>
            <a:r>
              <a:rPr lang="en" b="1">
                <a:solidFill>
                  <a:srgbClr val="CC0000"/>
                </a:solidFill>
              </a:rPr>
              <a:t>methods</a:t>
            </a:r>
            <a:r>
              <a:rPr lang="en"/>
              <a:t>,</a:t>
            </a:r>
            <a:r>
              <a:rPr lang="en">
                <a:solidFill>
                  <a:schemeClr val="dk1"/>
                </a:solidFill>
              </a:rPr>
              <a:t> that can </a:t>
            </a:r>
            <a:r>
              <a:rPr lang="en" b="1">
                <a:solidFill>
                  <a:srgbClr val="CC0000"/>
                </a:solidFill>
              </a:rPr>
              <a:t>learn from examples</a:t>
            </a:r>
            <a:r>
              <a:rPr lang="en"/>
              <a:t> </a:t>
            </a:r>
            <a:r>
              <a:rPr lang="en">
                <a:solidFill>
                  <a:schemeClr val="dk1"/>
                </a:solidFill>
              </a:rPr>
              <a:t>and experience </a:t>
            </a:r>
            <a:r>
              <a:rPr lang="en" b="1">
                <a:solidFill>
                  <a:srgbClr val="CC0000"/>
                </a:solidFill>
              </a:rPr>
              <a:t>instead</a:t>
            </a:r>
            <a:r>
              <a:rPr lang="en"/>
              <a:t> </a:t>
            </a:r>
            <a:r>
              <a:rPr lang="en">
                <a:solidFill>
                  <a:schemeClr val="dk1"/>
                </a:solidFill>
              </a:rPr>
              <a:t>of relying on </a:t>
            </a:r>
            <a:r>
              <a:rPr lang="en" b="1">
                <a:solidFill>
                  <a:srgbClr val="CC0000"/>
                </a:solidFill>
              </a:rPr>
              <a:t>hard-coded rules</a:t>
            </a:r>
            <a:r>
              <a:rPr lang="en"/>
              <a:t> </a:t>
            </a:r>
            <a:r>
              <a:rPr lang="en">
                <a:solidFill>
                  <a:schemeClr val="dk1"/>
                </a:solidFill>
              </a:rPr>
              <a:t>and make predictions on new data.</a:t>
            </a:r>
            <a:endParaRPr>
              <a:solidFill>
                <a:schemeClr val="dk1"/>
              </a:solidFill>
            </a:endParaRPr>
          </a:p>
        </p:txBody>
      </p:sp>
      <p:sp>
        <p:nvSpPr>
          <p:cNvPr id="124" name="Google Shape;124;p13"/>
          <p:cNvSpPr txBox="1">
            <a:spLocks noGrp="1"/>
          </p:cNvSpPr>
          <p:nvPr>
            <p:ph type="title"/>
          </p:nvPr>
        </p:nvSpPr>
        <p:spPr>
          <a:xfrm>
            <a:off x="476667" y="773033"/>
            <a:ext cx="5035200" cy="763600"/>
          </a:xfrm>
          <a:prstGeom prst="rect">
            <a:avLst/>
          </a:prstGeom>
          <a:noFill/>
          <a:ln>
            <a:noFill/>
          </a:ln>
        </p:spPr>
        <p:txBody>
          <a:bodyPr spcFirstLastPara="1" vert="horz" wrap="square" lIns="121900" tIns="121900" rIns="121900" bIns="121900" rtlCol="0" anchor="t" anchorCtr="0">
            <a:normAutofit fontScale="90000"/>
          </a:bodyPr>
          <a:lstStyle/>
          <a:p>
            <a:pPr>
              <a:buSzPct val="111111"/>
            </a:pPr>
            <a:r>
              <a:rPr lang="en" b="1"/>
              <a:t>Artificial Intelligence</a:t>
            </a:r>
            <a:endParaRPr b="1"/>
          </a:p>
        </p:txBody>
      </p:sp>
      <p:sp>
        <p:nvSpPr>
          <p:cNvPr id="125" name="Google Shape;125;p13"/>
          <p:cNvSpPr txBox="1">
            <a:spLocks noGrp="1"/>
          </p:cNvSpPr>
          <p:nvPr>
            <p:ph type="title"/>
          </p:nvPr>
        </p:nvSpPr>
        <p:spPr>
          <a:xfrm>
            <a:off x="3519300" y="3481584"/>
            <a:ext cx="5035200" cy="763600"/>
          </a:xfrm>
          <a:prstGeom prst="rect">
            <a:avLst/>
          </a:prstGeom>
          <a:noFill/>
          <a:ln>
            <a:noFill/>
          </a:ln>
        </p:spPr>
        <p:txBody>
          <a:bodyPr spcFirstLastPara="1" vert="horz" wrap="square" lIns="121900" tIns="121900" rIns="121900" bIns="121900" rtlCol="0" anchor="t" anchorCtr="0">
            <a:normAutofit fontScale="90000"/>
          </a:bodyPr>
          <a:lstStyle/>
          <a:p>
            <a:pPr algn="ctr">
              <a:buSzPct val="111111"/>
            </a:pPr>
            <a:r>
              <a:rPr lang="en" b="1"/>
              <a:t>Deep Learning</a:t>
            </a:r>
            <a:endParaRPr b="1"/>
          </a:p>
        </p:txBody>
      </p:sp>
      <p:sp>
        <p:nvSpPr>
          <p:cNvPr id="126" name="Google Shape;126;p13"/>
          <p:cNvSpPr txBox="1">
            <a:spLocks noGrp="1"/>
          </p:cNvSpPr>
          <p:nvPr>
            <p:ph type="body" idx="1"/>
          </p:nvPr>
        </p:nvSpPr>
        <p:spPr>
          <a:xfrm>
            <a:off x="3370300" y="4297733"/>
            <a:ext cx="5333200" cy="2054000"/>
          </a:xfrm>
          <a:prstGeom prst="rect">
            <a:avLst/>
          </a:prstGeom>
          <a:noFill/>
          <a:ln>
            <a:noFill/>
          </a:ln>
        </p:spPr>
        <p:txBody>
          <a:bodyPr spcFirstLastPara="1" vert="horz" wrap="square" lIns="121900" tIns="121900" rIns="121900" bIns="121900" rtlCol="0" anchor="t" anchorCtr="0">
            <a:normAutofit/>
          </a:bodyPr>
          <a:lstStyle/>
          <a:p>
            <a:pPr marL="0" indent="0" algn="just">
              <a:spcAft>
                <a:spcPts val="1600"/>
              </a:spcAft>
              <a:buNone/>
            </a:pPr>
            <a:r>
              <a:rPr lang="en" b="1">
                <a:solidFill>
                  <a:srgbClr val="CC0000"/>
                </a:solidFill>
              </a:rPr>
              <a:t>Subfield</a:t>
            </a:r>
            <a:r>
              <a:rPr lang="en"/>
              <a:t> </a:t>
            </a:r>
            <a:r>
              <a:rPr lang="en">
                <a:solidFill>
                  <a:schemeClr val="dk1"/>
                </a:solidFill>
              </a:rPr>
              <a:t>of</a:t>
            </a:r>
            <a:r>
              <a:rPr lang="en" b="1">
                <a:solidFill>
                  <a:srgbClr val="CC0000"/>
                </a:solidFill>
              </a:rPr>
              <a:t> Machine Learning</a:t>
            </a:r>
            <a:r>
              <a:rPr lang="en"/>
              <a:t> </a:t>
            </a:r>
            <a:r>
              <a:rPr lang="en">
                <a:solidFill>
                  <a:schemeClr val="dk1"/>
                </a:solidFill>
              </a:rPr>
              <a:t>that focuses on </a:t>
            </a:r>
            <a:r>
              <a:rPr lang="en" b="1">
                <a:solidFill>
                  <a:srgbClr val="CC0000"/>
                </a:solidFill>
              </a:rPr>
              <a:t>Neural Networks</a:t>
            </a:r>
            <a:r>
              <a:rPr lang="en"/>
              <a:t> </a:t>
            </a:r>
            <a:r>
              <a:rPr lang="en">
                <a:solidFill>
                  <a:schemeClr val="dk1"/>
                </a:solidFill>
              </a:rPr>
              <a:t>(Inspired from Biological neurons) to develop</a:t>
            </a:r>
            <a:r>
              <a:rPr lang="en"/>
              <a:t> </a:t>
            </a:r>
            <a:r>
              <a:rPr lang="en" b="1">
                <a:solidFill>
                  <a:srgbClr val="CC0000"/>
                </a:solidFill>
              </a:rPr>
              <a:t>learning models.</a:t>
            </a:r>
            <a:endParaRPr b="1">
              <a:solidFill>
                <a:srgbClr val="CC0000"/>
              </a:solidFill>
            </a:endParaRPr>
          </a:p>
        </p:txBody>
      </p:sp>
      <p:sp>
        <p:nvSpPr>
          <p:cNvPr id="127" name="Google Shape;127;p13"/>
          <p:cNvSpPr txBox="1">
            <a:spLocks noGrp="1"/>
          </p:cNvSpPr>
          <p:nvPr>
            <p:ph type="sldNum" idx="12"/>
          </p:nvPr>
        </p:nvSpPr>
        <p:spPr>
          <a:xfrm>
            <a:off x="11296611" y="6217623"/>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
              <a:pPr/>
              <a:t>3</a:t>
            </a:fld>
            <a:endParaRPr/>
          </a:p>
        </p:txBody>
      </p:sp>
    </p:spTree>
    <p:extLst>
      <p:ext uri="{BB962C8B-B14F-4D97-AF65-F5344CB8AC3E}">
        <p14:creationId xmlns:p14="http://schemas.microsoft.com/office/powerpoint/2010/main" val="209539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Science</a:t>
            </a:r>
            <a:endParaRPr lang="en-US" dirty="0"/>
          </a:p>
        </p:txBody>
      </p:sp>
      <p:sp>
        <p:nvSpPr>
          <p:cNvPr id="3" name="Content Placeholder 2"/>
          <p:cNvSpPr>
            <a:spLocks noGrp="1"/>
          </p:cNvSpPr>
          <p:nvPr>
            <p:ph idx="1"/>
          </p:nvPr>
        </p:nvSpPr>
        <p:spPr/>
        <p:txBody>
          <a:bodyPr>
            <a:normAutofit/>
          </a:bodyPr>
          <a:lstStyle/>
          <a:p>
            <a:r>
              <a:rPr lang="en-US" sz="2800" dirty="0">
                <a:solidFill>
                  <a:schemeClr val="tx1"/>
                </a:solidFill>
              </a:rPr>
              <a:t>It's a set of methodologies for taking in thousands of forms of data that are available to us today, and using them to draw meaningful conclusions.</a:t>
            </a:r>
            <a:endParaRPr lang="en-US" sz="2800" dirty="0"/>
          </a:p>
        </p:txBody>
      </p:sp>
    </p:spTree>
    <p:extLst>
      <p:ext uri="{BB962C8B-B14F-4D97-AF65-F5344CB8AC3E}">
        <p14:creationId xmlns:p14="http://schemas.microsoft.com/office/powerpoint/2010/main" val="1531162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2813836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3006449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998102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169700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1412121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838993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692722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21200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133725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38201"/>
            <a:ext cx="9144000" cy="5153025"/>
          </a:xfrm>
          <a:prstGeom prst="rect">
            <a:avLst/>
          </a:prstGeom>
        </p:spPr>
      </p:pic>
    </p:spTree>
    <p:extLst>
      <p:ext uri="{BB962C8B-B14F-4D97-AF65-F5344CB8AC3E}">
        <p14:creationId xmlns:p14="http://schemas.microsoft.com/office/powerpoint/2010/main" val="4180334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
        <p:nvSpPr>
          <p:cNvPr id="3" name="TextBox 2"/>
          <p:cNvSpPr txBox="1"/>
          <p:nvPr/>
        </p:nvSpPr>
        <p:spPr>
          <a:xfrm>
            <a:off x="1648047" y="382772"/>
            <a:ext cx="3689497" cy="400110"/>
          </a:xfrm>
          <a:prstGeom prst="rect">
            <a:avLst/>
          </a:prstGeom>
          <a:noFill/>
        </p:spPr>
        <p:txBody>
          <a:bodyPr wrap="square" rtlCol="0">
            <a:spAutoFit/>
          </a:bodyPr>
          <a:lstStyle/>
          <a:p>
            <a:r>
              <a:rPr lang="en-US" sz="2000" b="1" dirty="0" smtClean="0"/>
              <a:t>Roles in Data science:</a:t>
            </a:r>
            <a:endParaRPr lang="en-US" sz="2000" b="1" dirty="0"/>
          </a:p>
        </p:txBody>
      </p:sp>
    </p:spTree>
    <p:extLst>
      <p:ext uri="{BB962C8B-B14F-4D97-AF65-F5344CB8AC3E}">
        <p14:creationId xmlns:p14="http://schemas.microsoft.com/office/powerpoint/2010/main" val="3253310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862996"/>
          <a:ext cx="9144000" cy="6016021"/>
          <a:chOff x="0" y="862996"/>
          <a:chExt cx="9144000" cy="6016021"/>
        </a:xfrm>
      </p:grpSpPr>
      <p:pic>
        <p:nvPicPr>
          <p:cNvPr id="2" name="Slide"/>
          <p:cNvPicPr>
            <a:picLocks noChangeAspect="1"/>
          </p:cNvPicPr>
          <p:nvPr/>
        </p:nvPicPr>
        <p:blipFill>
          <a:blip r:embed="rId3"/>
          <a:stretch>
            <a:fillRect/>
          </a:stretch>
        </p:blipFill>
        <p:spPr>
          <a:xfrm>
            <a:off x="1524000" y="862997"/>
            <a:ext cx="9144000" cy="5153025"/>
          </a:xfrm>
          <a:prstGeom prst="rect">
            <a:avLst/>
          </a:prstGeom>
        </p:spPr>
      </p:pic>
    </p:spTree>
    <p:extLst>
      <p:ext uri="{BB962C8B-B14F-4D97-AF65-F5344CB8AC3E}">
        <p14:creationId xmlns:p14="http://schemas.microsoft.com/office/powerpoint/2010/main" val="218435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Kaggle</a:t>
            </a:r>
            <a:r>
              <a:rPr lang="en-US" dirty="0" smtClean="0"/>
              <a:t> </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9213" y="1458410"/>
            <a:ext cx="8915400" cy="4201610"/>
          </a:xfrm>
        </p:spPr>
      </p:pic>
    </p:spTree>
    <p:extLst>
      <p:ext uri="{BB962C8B-B14F-4D97-AF65-F5344CB8AC3E}">
        <p14:creationId xmlns:p14="http://schemas.microsoft.com/office/powerpoint/2010/main" val="174523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9213" y="1192192"/>
            <a:ext cx="8915400" cy="4687747"/>
          </a:xfrm>
        </p:spPr>
      </p:pic>
    </p:spTree>
    <p:extLst>
      <p:ext uri="{BB962C8B-B14F-4D97-AF65-F5344CB8AC3E}">
        <p14:creationId xmlns:p14="http://schemas.microsoft.com/office/powerpoint/2010/main" val="2658883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9213" y="1134320"/>
            <a:ext cx="8915400" cy="4618298"/>
          </a:xfrm>
        </p:spPr>
      </p:pic>
    </p:spTree>
    <p:extLst>
      <p:ext uri="{BB962C8B-B14F-4D97-AF65-F5344CB8AC3E}">
        <p14:creationId xmlns:p14="http://schemas.microsoft.com/office/powerpoint/2010/main" val="1927395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19682"/>
          </a:xfrm>
        </p:spPr>
        <p:txBody>
          <a:bodyPr/>
          <a:lstStyle/>
          <a:p>
            <a:r>
              <a:rPr lang="en-US" b="1" dirty="0" smtClean="0"/>
              <a:t>Dataset sources:</a:t>
            </a:r>
            <a:endParaRPr lang="en-US" b="1" dirty="0"/>
          </a:p>
        </p:txBody>
      </p:sp>
      <p:sp>
        <p:nvSpPr>
          <p:cNvPr id="3" name="Content Placeholder 2"/>
          <p:cNvSpPr>
            <a:spLocks noGrp="1"/>
          </p:cNvSpPr>
          <p:nvPr>
            <p:ph idx="1"/>
          </p:nvPr>
        </p:nvSpPr>
        <p:spPr/>
        <p:txBody>
          <a:bodyPr>
            <a:normAutofit fontScale="92500" lnSpcReduction="20000"/>
          </a:bodyPr>
          <a:lstStyle/>
          <a:p>
            <a:r>
              <a:rPr lang="en-US" sz="2000" dirty="0" smtClean="0"/>
              <a:t>UCI:	</a:t>
            </a:r>
            <a:r>
              <a:rPr lang="en-US" sz="2000" dirty="0"/>
              <a:t>		</a:t>
            </a:r>
            <a:endParaRPr lang="en-US" sz="2000" dirty="0" smtClean="0"/>
          </a:p>
          <a:p>
            <a:pPr marL="0" indent="0">
              <a:buNone/>
            </a:pPr>
            <a:r>
              <a:rPr lang="en-US" sz="2000" dirty="0" smtClean="0">
                <a:hlinkClick r:id="rId3"/>
              </a:rPr>
              <a:t>https</a:t>
            </a:r>
            <a:r>
              <a:rPr lang="en-US" sz="2000" dirty="0">
                <a:hlinkClick r:id="rId3"/>
              </a:rPr>
              <a:t>://archive.ics.uci.edu</a:t>
            </a:r>
            <a:r>
              <a:rPr lang="en-US" sz="2000" dirty="0" smtClean="0">
                <a:hlinkClick r:id="rId3"/>
              </a:rPr>
              <a:t>/</a:t>
            </a:r>
            <a:endParaRPr lang="en-US" sz="2000" dirty="0" smtClean="0"/>
          </a:p>
          <a:p>
            <a:r>
              <a:rPr lang="en-US" sz="2000" dirty="0" smtClean="0"/>
              <a:t>US Government </a:t>
            </a:r>
            <a:r>
              <a:rPr lang="en-US" sz="2000" dirty="0"/>
              <a:t>open datasets</a:t>
            </a:r>
            <a:r>
              <a:rPr lang="en-US" sz="2000" dirty="0" smtClean="0"/>
              <a:t>:		</a:t>
            </a:r>
          </a:p>
          <a:p>
            <a:pPr marL="0" indent="0">
              <a:buNone/>
            </a:pPr>
            <a:r>
              <a:rPr lang="en-US" sz="2000" dirty="0" smtClean="0"/>
              <a:t> </a:t>
            </a:r>
            <a:r>
              <a:rPr lang="en-US" sz="2000" dirty="0">
                <a:hlinkClick r:id="rId4"/>
              </a:rPr>
              <a:t>https://data.gov</a:t>
            </a:r>
            <a:r>
              <a:rPr lang="en-US" sz="2000" dirty="0" smtClean="0">
                <a:hlinkClick r:id="rId4"/>
              </a:rPr>
              <a:t>/</a:t>
            </a:r>
            <a:endParaRPr lang="en-US" sz="2000" dirty="0"/>
          </a:p>
          <a:p>
            <a:r>
              <a:rPr lang="en-US" sz="2000" dirty="0" err="1" smtClean="0"/>
              <a:t>Quandl</a:t>
            </a:r>
            <a:r>
              <a:rPr lang="en-US" sz="2000" dirty="0"/>
              <a:t>:			</a:t>
            </a:r>
            <a:endParaRPr lang="en-US" sz="2000" dirty="0" smtClean="0"/>
          </a:p>
          <a:p>
            <a:pPr marL="0" indent="0">
              <a:buNone/>
            </a:pPr>
            <a:r>
              <a:rPr lang="en-US" sz="2000" dirty="0" smtClean="0">
                <a:hlinkClick r:id="rId5"/>
              </a:rPr>
              <a:t>https</a:t>
            </a:r>
            <a:r>
              <a:rPr lang="en-US" sz="2000" dirty="0">
                <a:hlinkClick r:id="rId5"/>
              </a:rPr>
              <a:t>://alternativedata.org/data_provider/quandl</a:t>
            </a:r>
            <a:r>
              <a:rPr lang="en-US" sz="2000" dirty="0" smtClean="0">
                <a:hlinkClick r:id="rId5"/>
              </a:rPr>
              <a:t>/</a:t>
            </a:r>
            <a:endParaRPr lang="en-US" sz="2000" dirty="0" smtClean="0"/>
          </a:p>
          <a:p>
            <a:r>
              <a:rPr lang="en-US" sz="2000" dirty="0"/>
              <a:t>World Bank Dataset:			</a:t>
            </a:r>
            <a:endParaRPr lang="en-US" sz="2000" dirty="0" smtClean="0"/>
          </a:p>
          <a:p>
            <a:pPr marL="0" indent="0">
              <a:buNone/>
            </a:pPr>
            <a:r>
              <a:rPr lang="en-US" sz="2000" dirty="0" smtClean="0">
                <a:hlinkClick r:id="rId6"/>
              </a:rPr>
              <a:t>https</a:t>
            </a:r>
            <a:r>
              <a:rPr lang="en-US" sz="2000" dirty="0">
                <a:hlinkClick r:id="rId6"/>
              </a:rPr>
              <a:t>://data.worldbank.org</a:t>
            </a:r>
            <a:r>
              <a:rPr lang="en-US" sz="2000" dirty="0" smtClean="0">
                <a:hlinkClick r:id="rId6"/>
              </a:rPr>
              <a:t>/</a:t>
            </a:r>
            <a:endParaRPr lang="en-US" sz="2000" dirty="0" smtClean="0"/>
          </a:p>
          <a:p>
            <a:r>
              <a:rPr lang="en-US" sz="2000" dirty="0" smtClean="0"/>
              <a:t>Awesome Public Dataset:</a:t>
            </a:r>
          </a:p>
          <a:p>
            <a:pPr marL="0" indent="0">
              <a:buNone/>
            </a:pPr>
            <a:r>
              <a:rPr lang="en-US" sz="2000" dirty="0" smtClean="0">
                <a:hlinkClick r:id="rId7"/>
              </a:rPr>
              <a:t>https</a:t>
            </a:r>
            <a:r>
              <a:rPr lang="en-US" sz="2000" dirty="0">
                <a:hlinkClick r:id="rId7"/>
              </a:rPr>
              <a:t>://</a:t>
            </a:r>
            <a:r>
              <a:rPr lang="en-US" sz="2000" dirty="0" smtClean="0">
                <a:hlinkClick r:id="rId7"/>
              </a:rPr>
              <a:t>github.com/awesomedata/awesome-public-datasets</a:t>
            </a:r>
            <a:endParaRPr lang="en-US" sz="2000" dirty="0" smtClean="0"/>
          </a:p>
          <a:p>
            <a:pPr marL="0" indent="0">
              <a:buNone/>
            </a:pPr>
            <a:endParaRPr lang="en-US" dirty="0"/>
          </a:p>
          <a:p>
            <a:endParaRPr lang="en-US" dirty="0"/>
          </a:p>
        </p:txBody>
      </p:sp>
    </p:spTree>
    <p:extLst>
      <p:ext uri="{BB962C8B-B14F-4D97-AF65-F5344CB8AC3E}">
        <p14:creationId xmlns:p14="http://schemas.microsoft.com/office/powerpoint/2010/main" val="2691092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 and </a:t>
            </a:r>
            <a:r>
              <a:rPr lang="en-US" dirty="0"/>
              <a:t>T</a:t>
            </a:r>
            <a:r>
              <a:rPr lang="en-US" dirty="0" smtClean="0"/>
              <a:t>ools:</a:t>
            </a:r>
            <a:endParaRPr lang="en-US" dirty="0"/>
          </a:p>
        </p:txBody>
      </p:sp>
      <p:sp>
        <p:nvSpPr>
          <p:cNvPr id="3" name="Content Placeholder 2"/>
          <p:cNvSpPr>
            <a:spLocks noGrp="1"/>
          </p:cNvSpPr>
          <p:nvPr>
            <p:ph idx="1"/>
          </p:nvPr>
        </p:nvSpPr>
        <p:spPr/>
        <p:txBody>
          <a:bodyPr/>
          <a:lstStyle/>
          <a:p>
            <a:r>
              <a:rPr lang="en-US" dirty="0" smtClean="0"/>
              <a:t>Python, R </a:t>
            </a:r>
          </a:p>
          <a:p>
            <a:r>
              <a:rPr lang="en-US" dirty="0" smtClean="0"/>
              <a:t>Google </a:t>
            </a:r>
            <a:r>
              <a:rPr lang="en-US" dirty="0" err="1" smtClean="0"/>
              <a:t>Colab</a:t>
            </a:r>
            <a:endParaRPr lang="en-US" dirty="0"/>
          </a:p>
          <a:p>
            <a:r>
              <a:rPr lang="en-US" dirty="0" smtClean="0"/>
              <a:t>Anaconda</a:t>
            </a:r>
          </a:p>
          <a:p>
            <a:r>
              <a:rPr lang="en-US" dirty="0" smtClean="0"/>
              <a:t>Power BI</a:t>
            </a:r>
          </a:p>
          <a:p>
            <a:r>
              <a:rPr lang="en-US" dirty="0" smtClean="0"/>
              <a:t>Excel</a:t>
            </a:r>
          </a:p>
          <a:p>
            <a:r>
              <a:rPr lang="en-US" dirty="0" smtClean="0"/>
              <a:t>Microsoft Fabric</a:t>
            </a:r>
          </a:p>
          <a:p>
            <a:r>
              <a:rPr lang="en-US" dirty="0" err="1" smtClean="0"/>
              <a:t>Databricks</a:t>
            </a:r>
            <a:endParaRPr lang="en-US" dirty="0" smtClean="0"/>
          </a:p>
          <a:p>
            <a:r>
              <a:rPr lang="en-US" dirty="0" smtClean="0"/>
              <a:t>VS code</a:t>
            </a:r>
          </a:p>
          <a:p>
            <a:pPr marL="0" indent="0">
              <a:buNone/>
            </a:pPr>
            <a:endParaRPr lang="en-US" dirty="0" smtClean="0"/>
          </a:p>
          <a:p>
            <a:pPr marL="0" indent="0">
              <a:buNone/>
            </a:pPr>
            <a:endParaRPr lang="en-US" dirty="0" smtClean="0"/>
          </a:p>
        </p:txBody>
      </p:sp>
    </p:spTree>
    <p:extLst>
      <p:ext uri="{BB962C8B-B14F-4D97-AF65-F5344CB8AC3E}">
        <p14:creationId xmlns:p14="http://schemas.microsoft.com/office/powerpoint/2010/main" val="3191394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potential projects:</a:t>
            </a:r>
            <a:endParaRPr lang="en-US" dirty="0"/>
          </a:p>
        </p:txBody>
      </p:sp>
      <p:sp>
        <p:nvSpPr>
          <p:cNvPr id="3" name="Content Placeholder 2"/>
          <p:cNvSpPr>
            <a:spLocks noGrp="1"/>
          </p:cNvSpPr>
          <p:nvPr>
            <p:ph idx="1"/>
          </p:nvPr>
        </p:nvSpPr>
        <p:spPr>
          <a:xfrm>
            <a:off x="1840375" y="2133600"/>
            <a:ext cx="9664237" cy="3777622"/>
          </a:xfrm>
        </p:spPr>
        <p:txBody>
          <a:bodyPr/>
          <a:lstStyle/>
          <a:p>
            <a:r>
              <a:rPr lang="en-US" dirty="0" smtClean="0"/>
              <a:t>Fraud Detection in Financial transactions</a:t>
            </a:r>
          </a:p>
          <a:p>
            <a:r>
              <a:rPr lang="en-US" dirty="0" smtClean="0"/>
              <a:t>Used in banks to prevent fraud.</a:t>
            </a:r>
            <a:endParaRPr lang="en-US" dirty="0"/>
          </a:p>
        </p:txBody>
      </p:sp>
      <p:sp>
        <p:nvSpPr>
          <p:cNvPr id="6" name="Rectangle 5"/>
          <p:cNvSpPr/>
          <p:nvPr/>
        </p:nvSpPr>
        <p:spPr>
          <a:xfrm>
            <a:off x="5810491" y="3414532"/>
            <a:ext cx="2696901" cy="1261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MODEL</a:t>
            </a:r>
            <a:endParaRPr lang="en-US" dirty="0"/>
          </a:p>
        </p:txBody>
      </p:sp>
      <p:cxnSp>
        <p:nvCxnSpPr>
          <p:cNvPr id="8" name="Straight Connector 7"/>
          <p:cNvCxnSpPr/>
          <p:nvPr/>
        </p:nvCxnSpPr>
        <p:spPr>
          <a:xfrm>
            <a:off x="8542116" y="4027990"/>
            <a:ext cx="14699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340506" y="4027990"/>
            <a:ext cx="146998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840375" y="3669175"/>
            <a:ext cx="2500131" cy="646331"/>
          </a:xfrm>
          <a:prstGeom prst="rect">
            <a:avLst/>
          </a:prstGeom>
          <a:noFill/>
        </p:spPr>
        <p:txBody>
          <a:bodyPr wrap="square" rtlCol="0">
            <a:spAutoFit/>
          </a:bodyPr>
          <a:lstStyle/>
          <a:p>
            <a:r>
              <a:rPr lang="en-US" dirty="0" smtClean="0"/>
              <a:t>Transaction amount, location, Frequency</a:t>
            </a:r>
            <a:endParaRPr lang="en-US" dirty="0"/>
          </a:p>
        </p:txBody>
      </p:sp>
      <p:sp>
        <p:nvSpPr>
          <p:cNvPr id="10" name="TextBox 9"/>
          <p:cNvSpPr txBox="1"/>
          <p:nvPr/>
        </p:nvSpPr>
        <p:spPr>
          <a:xfrm>
            <a:off x="9948752" y="3669174"/>
            <a:ext cx="1779919" cy="646331"/>
          </a:xfrm>
          <a:prstGeom prst="rect">
            <a:avLst/>
          </a:prstGeom>
          <a:noFill/>
        </p:spPr>
        <p:txBody>
          <a:bodyPr wrap="square" rtlCol="0">
            <a:spAutoFit/>
          </a:bodyPr>
          <a:lstStyle/>
          <a:p>
            <a:r>
              <a:rPr lang="en-US" dirty="0" err="1" smtClean="0"/>
              <a:t>Fraudulant</a:t>
            </a:r>
            <a:r>
              <a:rPr lang="en-US" dirty="0" smtClean="0"/>
              <a:t> Transactions</a:t>
            </a:r>
            <a:endParaRPr lang="en-US" dirty="0"/>
          </a:p>
        </p:txBody>
      </p:sp>
    </p:spTree>
    <p:extLst>
      <p:ext uri="{BB962C8B-B14F-4D97-AF65-F5344CB8AC3E}">
        <p14:creationId xmlns:p14="http://schemas.microsoft.com/office/powerpoint/2010/main" val="2538360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583" y="624110"/>
            <a:ext cx="9942030" cy="1280890"/>
          </a:xfrm>
        </p:spPr>
        <p:txBody>
          <a:bodyPr/>
          <a:lstStyle/>
          <a:p>
            <a:r>
              <a:rPr lang="en-US" b="1" dirty="0"/>
              <a:t>Recommendation System for E-commerce:</a:t>
            </a:r>
            <a:endParaRPr lang="en-US" dirty="0"/>
          </a:p>
        </p:txBody>
      </p:sp>
      <p:sp>
        <p:nvSpPr>
          <p:cNvPr id="3" name="Content Placeholder 2"/>
          <p:cNvSpPr>
            <a:spLocks noGrp="1"/>
          </p:cNvSpPr>
          <p:nvPr>
            <p:ph idx="1"/>
          </p:nvPr>
        </p:nvSpPr>
        <p:spPr>
          <a:xfrm>
            <a:off x="1840375" y="2133600"/>
            <a:ext cx="9664237" cy="3777622"/>
          </a:xfrm>
        </p:spPr>
        <p:txBody>
          <a:bodyPr/>
          <a:lstStyle/>
          <a:p>
            <a:r>
              <a:rPr lang="en-US" dirty="0" smtClean="0"/>
              <a:t>Enhance User experience and increase sales.</a:t>
            </a:r>
          </a:p>
        </p:txBody>
      </p:sp>
      <p:sp>
        <p:nvSpPr>
          <p:cNvPr id="6" name="Rectangle 5"/>
          <p:cNvSpPr/>
          <p:nvPr/>
        </p:nvSpPr>
        <p:spPr>
          <a:xfrm>
            <a:off x="5810491" y="3414532"/>
            <a:ext cx="2500131" cy="1261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MODEL</a:t>
            </a:r>
            <a:endParaRPr lang="en-US" dirty="0"/>
          </a:p>
        </p:txBody>
      </p:sp>
      <p:cxnSp>
        <p:nvCxnSpPr>
          <p:cNvPr id="8" name="Straight Connector 7"/>
          <p:cNvCxnSpPr/>
          <p:nvPr/>
        </p:nvCxnSpPr>
        <p:spPr>
          <a:xfrm>
            <a:off x="8310622" y="4027990"/>
            <a:ext cx="14699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340506" y="4027990"/>
            <a:ext cx="146998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562583" y="3669175"/>
            <a:ext cx="2777923" cy="830997"/>
          </a:xfrm>
          <a:prstGeom prst="rect">
            <a:avLst/>
          </a:prstGeom>
          <a:noFill/>
        </p:spPr>
        <p:txBody>
          <a:bodyPr wrap="square" rtlCol="0">
            <a:spAutoFit/>
          </a:bodyPr>
          <a:lstStyle/>
          <a:p>
            <a:r>
              <a:rPr lang="en-US" sz="1600" dirty="0" smtClean="0"/>
              <a:t>Past purchases, browsing history, demographic information</a:t>
            </a:r>
            <a:endParaRPr lang="en-US" sz="1600" dirty="0"/>
          </a:p>
        </p:txBody>
      </p:sp>
      <p:sp>
        <p:nvSpPr>
          <p:cNvPr id="10" name="TextBox 9"/>
          <p:cNvSpPr txBox="1"/>
          <p:nvPr/>
        </p:nvSpPr>
        <p:spPr>
          <a:xfrm>
            <a:off x="9780607" y="3669174"/>
            <a:ext cx="2411393" cy="646331"/>
          </a:xfrm>
          <a:prstGeom prst="rect">
            <a:avLst/>
          </a:prstGeom>
          <a:noFill/>
        </p:spPr>
        <p:txBody>
          <a:bodyPr wrap="square" rtlCol="0">
            <a:spAutoFit/>
          </a:bodyPr>
          <a:lstStyle/>
          <a:p>
            <a:r>
              <a:rPr lang="en-US" dirty="0" smtClean="0"/>
              <a:t>Product Recommendations</a:t>
            </a:r>
            <a:endParaRPr lang="en-US" dirty="0"/>
          </a:p>
        </p:txBody>
      </p:sp>
    </p:spTree>
    <p:extLst>
      <p:ext uri="{BB962C8B-B14F-4D97-AF65-F5344CB8AC3E}">
        <p14:creationId xmlns:p14="http://schemas.microsoft.com/office/powerpoint/2010/main" val="3548937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583" y="624110"/>
            <a:ext cx="9942030" cy="907191"/>
          </a:xfrm>
        </p:spPr>
        <p:txBody>
          <a:bodyPr/>
          <a:lstStyle/>
          <a:p>
            <a:r>
              <a:rPr lang="en-US" b="1" dirty="0" smtClean="0"/>
              <a:t>HealthCare Predictions:</a:t>
            </a:r>
            <a:endParaRPr lang="en-US" dirty="0"/>
          </a:p>
        </p:txBody>
      </p:sp>
      <p:sp>
        <p:nvSpPr>
          <p:cNvPr id="3" name="Content Placeholder 2"/>
          <p:cNvSpPr>
            <a:spLocks noGrp="1"/>
          </p:cNvSpPr>
          <p:nvPr>
            <p:ph idx="1"/>
          </p:nvPr>
        </p:nvSpPr>
        <p:spPr>
          <a:xfrm>
            <a:off x="1840375" y="2133600"/>
            <a:ext cx="10046825" cy="3777622"/>
          </a:xfrm>
        </p:spPr>
        <p:txBody>
          <a:bodyPr/>
          <a:lstStyle/>
          <a:p>
            <a:r>
              <a:rPr lang="en-US" dirty="0" smtClean="0"/>
              <a:t>Predict Disease based on patient data.</a:t>
            </a:r>
          </a:p>
        </p:txBody>
      </p:sp>
      <p:sp>
        <p:nvSpPr>
          <p:cNvPr id="6" name="Rectangle 5"/>
          <p:cNvSpPr/>
          <p:nvPr/>
        </p:nvSpPr>
        <p:spPr>
          <a:xfrm>
            <a:off x="5810491" y="3414532"/>
            <a:ext cx="2500131" cy="1261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MODEL</a:t>
            </a:r>
            <a:endParaRPr lang="en-US" dirty="0"/>
          </a:p>
        </p:txBody>
      </p:sp>
      <p:cxnSp>
        <p:nvCxnSpPr>
          <p:cNvPr id="8" name="Straight Connector 7"/>
          <p:cNvCxnSpPr/>
          <p:nvPr/>
        </p:nvCxnSpPr>
        <p:spPr>
          <a:xfrm>
            <a:off x="8310622" y="4027990"/>
            <a:ext cx="14699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340506" y="4027990"/>
            <a:ext cx="146998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562583" y="3669175"/>
            <a:ext cx="2777923" cy="923330"/>
          </a:xfrm>
          <a:prstGeom prst="rect">
            <a:avLst/>
          </a:prstGeom>
          <a:noFill/>
        </p:spPr>
        <p:txBody>
          <a:bodyPr wrap="square" rtlCol="0">
            <a:spAutoFit/>
          </a:bodyPr>
          <a:lstStyle/>
          <a:p>
            <a:r>
              <a:rPr lang="en-US" dirty="0"/>
              <a:t>demographics, medical history, and lifestyle factor</a:t>
            </a:r>
          </a:p>
        </p:txBody>
      </p:sp>
      <p:sp>
        <p:nvSpPr>
          <p:cNvPr id="10" name="TextBox 9"/>
          <p:cNvSpPr txBox="1"/>
          <p:nvPr/>
        </p:nvSpPr>
        <p:spPr>
          <a:xfrm>
            <a:off x="9780607" y="3669174"/>
            <a:ext cx="2411393" cy="1200329"/>
          </a:xfrm>
          <a:prstGeom prst="rect">
            <a:avLst/>
          </a:prstGeom>
          <a:noFill/>
        </p:spPr>
        <p:txBody>
          <a:bodyPr wrap="square" rtlCol="0">
            <a:spAutoFit/>
          </a:bodyPr>
          <a:lstStyle/>
          <a:p>
            <a:r>
              <a:rPr lang="en-US" dirty="0" smtClean="0"/>
              <a:t>Disease Likelihood(e.g</a:t>
            </a:r>
            <a:r>
              <a:rPr lang="en-US" dirty="0"/>
              <a:t>., diabetes, heart disease</a:t>
            </a:r>
            <a:r>
              <a:rPr lang="en-US" dirty="0" smtClean="0"/>
              <a:t>)</a:t>
            </a:r>
            <a:endParaRPr lang="en-US" dirty="0"/>
          </a:p>
        </p:txBody>
      </p:sp>
    </p:spTree>
    <p:extLst>
      <p:ext uri="{BB962C8B-B14F-4D97-AF65-F5344CB8AC3E}">
        <p14:creationId xmlns:p14="http://schemas.microsoft.com/office/powerpoint/2010/main" val="2542509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example Insights:</a:t>
            </a:r>
            <a:endParaRPr lang="en-US" dirty="0"/>
          </a:p>
        </p:txBody>
      </p:sp>
      <p:sp>
        <p:nvSpPr>
          <p:cNvPr id="3" name="Content Placeholder 2"/>
          <p:cNvSpPr>
            <a:spLocks noGrp="1"/>
          </p:cNvSpPr>
          <p:nvPr>
            <p:ph idx="1"/>
          </p:nvPr>
        </p:nvSpPr>
        <p:spPr>
          <a:xfrm>
            <a:off x="1469985" y="2133600"/>
            <a:ext cx="10034627" cy="3769489"/>
          </a:xfrm>
        </p:spPr>
        <p:txBody>
          <a:bodyPr>
            <a:normAutofit fontScale="92500" lnSpcReduction="10000"/>
          </a:bodyPr>
          <a:lstStyle/>
          <a:p>
            <a:pPr marL="0" indent="0">
              <a:buNone/>
            </a:pPr>
            <a:r>
              <a:rPr lang="en-US" b="1" dirty="0" smtClean="0"/>
              <a:t>1. Mobile </a:t>
            </a:r>
            <a:r>
              <a:rPr lang="en-US" b="1" dirty="0"/>
              <a:t>Phone Addiction:</a:t>
            </a:r>
            <a:endParaRPr lang="en-US" dirty="0"/>
          </a:p>
          <a:p>
            <a:r>
              <a:rPr lang="en-US" b="1" dirty="0"/>
              <a:t>Insight:</a:t>
            </a:r>
            <a:r>
              <a:rPr lang="en-US" dirty="0"/>
              <a:t> </a:t>
            </a:r>
            <a:r>
              <a:rPr lang="en-US" dirty="0" smtClean="0"/>
              <a:t>Recent analysis show that </a:t>
            </a:r>
            <a:r>
              <a:rPr lang="en-US" dirty="0"/>
              <a:t>people spend a significant amount of time (over 4.5 hours daily) on their phones, primarily scrolling. This suggests a potential for addiction and the negative impacts it can have on attention spans, productivity, and mental </a:t>
            </a:r>
            <a:r>
              <a:rPr lang="en-US" dirty="0" smtClean="0"/>
              <a:t>well-being.</a:t>
            </a:r>
          </a:p>
          <a:p>
            <a:pPr marL="0" indent="0">
              <a:buNone/>
            </a:pPr>
            <a:r>
              <a:rPr lang="en-US" b="1" dirty="0"/>
              <a:t>2. Changing Communication Patterns:</a:t>
            </a:r>
            <a:endParaRPr lang="en-US" dirty="0"/>
          </a:p>
          <a:p>
            <a:r>
              <a:rPr lang="en-US" b="1" dirty="0"/>
              <a:t>Insight:</a:t>
            </a:r>
            <a:r>
              <a:rPr lang="en-US" dirty="0"/>
              <a:t> The rise of social media and messaging apps has transformed how we communicate. Face-to-face interaction and traditional phone calls are declining, with text-based communication becoming dominant</a:t>
            </a:r>
            <a:r>
              <a:rPr lang="en-US" dirty="0" smtClean="0"/>
              <a:t>.</a:t>
            </a:r>
          </a:p>
          <a:p>
            <a:pPr marL="0" indent="0">
              <a:buNone/>
            </a:pPr>
            <a:r>
              <a:rPr lang="en-US" b="1" dirty="0"/>
              <a:t>3. Online Shopping Boom:</a:t>
            </a:r>
            <a:endParaRPr lang="en-US" dirty="0"/>
          </a:p>
          <a:p>
            <a:r>
              <a:rPr lang="en-US" b="1" dirty="0"/>
              <a:t>Insight:</a:t>
            </a:r>
            <a:r>
              <a:rPr lang="en-US" dirty="0"/>
              <a:t> Data shows a surge in e-commerce, with people increasingly comfortable purchasing online. This trend is fueled by convenience, wider product selection, and competitive pricing.</a:t>
            </a:r>
          </a:p>
          <a:p>
            <a:pPr marL="0" indent="0">
              <a:buNone/>
            </a:pPr>
            <a:endParaRPr lang="en-US" dirty="0"/>
          </a:p>
          <a:p>
            <a:endParaRPr lang="en-US" dirty="0"/>
          </a:p>
        </p:txBody>
      </p:sp>
    </p:spTree>
    <p:extLst>
      <p:ext uri="{BB962C8B-B14F-4D97-AF65-F5344CB8AC3E}">
        <p14:creationId xmlns:p14="http://schemas.microsoft.com/office/powerpoint/2010/main" val="1766320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581891"/>
            <a:ext cx="8915400" cy="5329331"/>
          </a:xfrm>
        </p:spPr>
        <p:txBody>
          <a:bodyPr>
            <a:normAutofit/>
          </a:bodyPr>
          <a:lstStyle/>
          <a:p>
            <a:pPr marL="0" indent="0" algn="ctr">
              <a:buNone/>
            </a:pPr>
            <a:endParaRPr lang="en-US" sz="4800" b="1" dirty="0" smtClean="0"/>
          </a:p>
          <a:p>
            <a:pPr marL="0" indent="0" algn="ctr">
              <a:buNone/>
            </a:pPr>
            <a:endParaRPr lang="en-US" sz="4800" b="1" dirty="0"/>
          </a:p>
          <a:p>
            <a:pPr marL="0" indent="0" algn="ctr">
              <a:buNone/>
            </a:pPr>
            <a:r>
              <a:rPr lang="en-US" sz="4800" b="1" dirty="0" smtClean="0"/>
              <a:t>Any Questions?</a:t>
            </a:r>
            <a:endParaRPr lang="en-US" sz="4800" b="1" dirty="0"/>
          </a:p>
        </p:txBody>
      </p:sp>
    </p:spTree>
    <p:extLst>
      <p:ext uri="{BB962C8B-B14F-4D97-AF65-F5344CB8AC3E}">
        <p14:creationId xmlns:p14="http://schemas.microsoft.com/office/powerpoint/2010/main" val="61508211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560</TotalTime>
  <Words>1475</Words>
  <Application>Microsoft Office PowerPoint</Application>
  <PresentationFormat>Widescreen</PresentationFormat>
  <Paragraphs>113</Paragraphs>
  <Slides>26</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Century Gothic</vt:lpstr>
      <vt:lpstr>Wingdings 3</vt:lpstr>
      <vt:lpstr>Wisp</vt:lpstr>
      <vt:lpstr>Data Science</vt:lpstr>
      <vt:lpstr>Relationship in AI, ML and DL</vt:lpstr>
      <vt:lpstr>Machine Learning</vt:lpstr>
      <vt:lpstr>Data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Kaggle </vt:lpstr>
      <vt:lpstr>PowerPoint Presentation</vt:lpstr>
      <vt:lpstr>PowerPoint Presentation</vt:lpstr>
      <vt:lpstr>Dataset sources:</vt:lpstr>
      <vt:lpstr>Language and Tools:</vt:lpstr>
      <vt:lpstr>Some potential projects:</vt:lpstr>
      <vt:lpstr>Recommendation System for E-commerce:</vt:lpstr>
      <vt:lpstr>HealthCare Predictions:</vt:lpstr>
      <vt:lpstr>Some example Insights: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Projects</dc:title>
  <dc:creator>Fatima</dc:creator>
  <cp:lastModifiedBy>Microsoft account</cp:lastModifiedBy>
  <cp:revision>29</cp:revision>
  <dcterms:created xsi:type="dcterms:W3CDTF">2024-04-07T09:14:02Z</dcterms:created>
  <dcterms:modified xsi:type="dcterms:W3CDTF">2025-10-06T12:12:04Z</dcterms:modified>
</cp:coreProperties>
</file>