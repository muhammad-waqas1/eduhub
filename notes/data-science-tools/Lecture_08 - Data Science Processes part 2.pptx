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2"/>
  </p:notesMasterIdLst>
  <p:sldIdLst>
    <p:sldId id="256" r:id="rId2"/>
    <p:sldId id="257" r:id="rId3"/>
    <p:sldId id="258" r:id="rId4"/>
    <p:sldId id="262" r:id="rId5"/>
    <p:sldId id="263" r:id="rId6"/>
    <p:sldId id="264" r:id="rId7"/>
    <p:sldId id="265" r:id="rId8"/>
    <p:sldId id="266" r:id="rId9"/>
    <p:sldId id="267" r:id="rId10"/>
    <p:sldId id="268" r:id="rId11"/>
    <p:sldId id="269" r:id="rId12"/>
    <p:sldId id="270" r:id="rId13"/>
    <p:sldId id="271" r:id="rId14"/>
    <p:sldId id="272" r:id="rId15"/>
    <p:sldId id="279" r:id="rId16"/>
    <p:sldId id="280" r:id="rId17"/>
    <p:sldId id="283" r:id="rId18"/>
    <p:sldId id="284" r:id="rId19"/>
    <p:sldId id="286" r:id="rId20"/>
    <p:sldId id="287"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isIzNraj/0OdFH+AOIgJrljlp4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3C7345-A175-4089-A0F8-43805155353A}">
  <a:tblStyle styleId="{543C7345-A175-4089-A0F8-43805155353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63"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6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slide" Target="slides/slide18.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6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4057675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8490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 name="Google Shape;5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7542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4f3b0113b5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g24f3b0113b5_3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3928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b49bba9510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2b49bba9510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28557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b50650ef6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2b50650ef63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97622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b50650ef6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2b50650ef63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86590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5302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e44a481ae3_0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1e44a481ae3_0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30797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2399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9802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9989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98978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791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4756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42547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2496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384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8166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546729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7733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3"/>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lvl1pPr marL="457200" lvl="0" indent="-334327" algn="l">
              <a:lnSpc>
                <a:spcPct val="130000"/>
              </a:lnSpc>
              <a:spcBef>
                <a:spcPts val="0"/>
              </a:spcBef>
              <a:spcAft>
                <a:spcPts val="0"/>
              </a:spcAft>
              <a:buSzPts val="1665"/>
              <a:buChar char="●"/>
              <a:defRPr/>
            </a:lvl1pPr>
            <a:lvl2pPr marL="914400" lvl="1" indent="-310832" algn="l">
              <a:lnSpc>
                <a:spcPct val="115000"/>
              </a:lnSpc>
              <a:spcBef>
                <a:spcPts val="0"/>
              </a:spcBef>
              <a:spcAft>
                <a:spcPts val="0"/>
              </a:spcAft>
              <a:buSzPts val="1295"/>
              <a:buChar char="○"/>
              <a:defRPr/>
            </a:lvl2pPr>
            <a:lvl3pPr marL="1371600" lvl="2" indent="-310832" algn="l">
              <a:lnSpc>
                <a:spcPct val="115000"/>
              </a:lnSpc>
              <a:spcBef>
                <a:spcPts val="0"/>
              </a:spcBef>
              <a:spcAft>
                <a:spcPts val="0"/>
              </a:spcAft>
              <a:buSzPts val="1295"/>
              <a:buChar char="■"/>
              <a:defRPr/>
            </a:lvl3pPr>
            <a:lvl4pPr marL="1828800" lvl="3" indent="-310832" algn="l">
              <a:lnSpc>
                <a:spcPct val="115000"/>
              </a:lnSpc>
              <a:spcBef>
                <a:spcPts val="0"/>
              </a:spcBef>
              <a:spcAft>
                <a:spcPts val="0"/>
              </a:spcAft>
              <a:buSzPts val="1295"/>
              <a:buChar char="●"/>
              <a:defRPr/>
            </a:lvl4pPr>
            <a:lvl5pPr marL="2286000" lvl="4" indent="-310832" algn="l">
              <a:lnSpc>
                <a:spcPct val="115000"/>
              </a:lnSpc>
              <a:spcBef>
                <a:spcPts val="0"/>
              </a:spcBef>
              <a:spcAft>
                <a:spcPts val="0"/>
              </a:spcAft>
              <a:buSzPts val="1295"/>
              <a:buChar char="○"/>
              <a:defRPr/>
            </a:lvl5pPr>
            <a:lvl6pPr marL="2743200" lvl="5" indent="-310832" algn="l">
              <a:lnSpc>
                <a:spcPct val="115000"/>
              </a:lnSpc>
              <a:spcBef>
                <a:spcPts val="0"/>
              </a:spcBef>
              <a:spcAft>
                <a:spcPts val="0"/>
              </a:spcAft>
              <a:buSzPts val="1295"/>
              <a:buChar char="■"/>
              <a:defRPr/>
            </a:lvl6pPr>
            <a:lvl7pPr marL="3200400" lvl="6" indent="-310832" algn="l">
              <a:lnSpc>
                <a:spcPct val="115000"/>
              </a:lnSpc>
              <a:spcBef>
                <a:spcPts val="0"/>
              </a:spcBef>
              <a:spcAft>
                <a:spcPts val="0"/>
              </a:spcAft>
              <a:buSzPts val="1295"/>
              <a:buChar char="●"/>
              <a:defRPr/>
            </a:lvl7pPr>
            <a:lvl8pPr marL="3657600" lvl="7" indent="-310832" algn="l">
              <a:lnSpc>
                <a:spcPct val="115000"/>
              </a:lnSpc>
              <a:spcBef>
                <a:spcPts val="0"/>
              </a:spcBef>
              <a:spcAft>
                <a:spcPts val="0"/>
              </a:spcAft>
              <a:buSzPts val="1295"/>
              <a:buChar char="○"/>
              <a:defRPr/>
            </a:lvl8pPr>
            <a:lvl9pPr marL="4114800" lvl="8" indent="-310832" algn="l">
              <a:lnSpc>
                <a:spcPct val="115000"/>
              </a:lnSpc>
              <a:spcBef>
                <a:spcPts val="0"/>
              </a:spcBef>
              <a:spcAft>
                <a:spcPts val="0"/>
              </a:spcAft>
              <a:buSzPts val="1295"/>
              <a:buChar char="■"/>
              <a:defRPr/>
            </a:lvl9pPr>
          </a:lstStyle>
          <a:p>
            <a:endParaRPr/>
          </a:p>
        </p:txBody>
      </p:sp>
      <p:sp>
        <p:nvSpPr>
          <p:cNvPr id="16" name="Google Shape;16;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2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7" name="Google Shape;27;p2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8" name="Google Shape;28;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2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1" name="Google Shape;31;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2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2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5" name="Google Shape;35;p2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2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7" name="Google Shape;37;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3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0" name="Google Shape;40;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3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3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4" name="Google Shape;4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15000"/>
              </a:lnSpc>
              <a:spcBef>
                <a:spcPts val="0"/>
              </a:spcBef>
              <a:spcAft>
                <a:spcPts val="300"/>
              </a:spcAft>
              <a:buClr>
                <a:schemeClr val="dk1"/>
              </a:buClr>
              <a:buSzPts val="1100"/>
              <a:buFont typeface="Arial"/>
              <a:buNone/>
            </a:pPr>
            <a:r>
              <a:rPr lang="en" sz="4800" b="1"/>
              <a:t>Hope to Skills</a:t>
            </a:r>
            <a:endParaRPr sz="4800"/>
          </a:p>
        </p:txBody>
      </p:sp>
      <p:sp>
        <p:nvSpPr>
          <p:cNvPr id="50" name="Google Shape;50;p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lnSpcReduction="10000"/>
          </a:bodyPr>
          <a:lstStyle/>
          <a:p>
            <a:pPr marL="0" lvl="0" indent="0" algn="ctr" rtl="0">
              <a:lnSpc>
                <a:spcPct val="80000"/>
              </a:lnSpc>
              <a:spcBef>
                <a:spcPts val="0"/>
              </a:spcBef>
              <a:spcAft>
                <a:spcPts val="0"/>
              </a:spcAft>
              <a:buSzPts val="2800"/>
              <a:buNone/>
            </a:pPr>
            <a:r>
              <a:rPr lang="en" sz="1779">
                <a:solidFill>
                  <a:schemeClr val="dk1"/>
                </a:solidFill>
              </a:rPr>
              <a:t>Lecture# 16</a:t>
            </a:r>
            <a:endParaRPr sz="1779">
              <a:solidFill>
                <a:schemeClr val="dk1"/>
              </a:solidFill>
            </a:endParaRPr>
          </a:p>
          <a:p>
            <a:pPr marL="2743200" lvl="0" indent="0" algn="l" rtl="0">
              <a:lnSpc>
                <a:spcPct val="80000"/>
              </a:lnSpc>
              <a:spcBef>
                <a:spcPts val="0"/>
              </a:spcBef>
              <a:spcAft>
                <a:spcPts val="0"/>
              </a:spcAft>
              <a:buSzPts val="2800"/>
              <a:buNone/>
            </a:pPr>
            <a:endParaRPr sz="1779">
              <a:solidFill>
                <a:schemeClr val="dk1"/>
              </a:solidFill>
            </a:endParaRPr>
          </a:p>
          <a:p>
            <a:pPr marL="2743200" lvl="0" indent="0" algn="l" rtl="0">
              <a:lnSpc>
                <a:spcPct val="80000"/>
              </a:lnSpc>
              <a:spcBef>
                <a:spcPts val="0"/>
              </a:spcBef>
              <a:spcAft>
                <a:spcPts val="0"/>
              </a:spcAft>
              <a:buSzPts val="2800"/>
              <a:buNone/>
            </a:pPr>
            <a:r>
              <a:rPr lang="en" sz="1779">
                <a:solidFill>
                  <a:schemeClr val="dk1"/>
                </a:solidFill>
              </a:rPr>
              <a:t>Irfan Malik, Dr. Sheraz Naseer </a:t>
            </a:r>
            <a:endParaRPr sz="1779">
              <a:solidFill>
                <a:schemeClr val="dk1"/>
              </a:solidFill>
            </a:endParaRPr>
          </a:p>
        </p:txBody>
      </p:sp>
      <p:pic>
        <p:nvPicPr>
          <p:cNvPr id="51" name="Google Shape;51;p1"/>
          <p:cNvPicPr preferRelativeResize="0"/>
          <p:nvPr/>
        </p:nvPicPr>
        <p:blipFill rotWithShape="1">
          <a:blip r:embed="rId3">
            <a:alphaModFix/>
          </a:blip>
          <a:srcRect/>
          <a:stretch/>
        </p:blipFill>
        <p:spPr>
          <a:xfrm>
            <a:off x="102825" y="4478925"/>
            <a:ext cx="2021288" cy="449175"/>
          </a:xfrm>
          <a:prstGeom prst="rect">
            <a:avLst/>
          </a:prstGeom>
          <a:noFill/>
          <a:ln>
            <a:noFill/>
          </a:ln>
        </p:spPr>
      </p:pic>
      <p:pic>
        <p:nvPicPr>
          <p:cNvPr id="52" name="Google Shape;52;p1"/>
          <p:cNvPicPr preferRelativeResize="0"/>
          <p:nvPr/>
        </p:nvPicPr>
        <p:blipFill rotWithShape="1">
          <a:blip r:embed="rId4">
            <a:alphaModFix/>
          </a:blip>
          <a:srcRect/>
          <a:stretch/>
        </p:blipFill>
        <p:spPr>
          <a:xfrm>
            <a:off x="7736950" y="4160975"/>
            <a:ext cx="1330074" cy="9163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8" name="Google Shape;58;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2743200" lvl="0" indent="0" algn="l">
              <a:lnSpc>
                <a:spcPct val="80000"/>
              </a:lnSpc>
            </a:pPr>
            <a:r>
              <a:rPr lang="en-US" sz="1779" dirty="0">
                <a:solidFill>
                  <a:schemeClr val="dk1"/>
                </a:solidFill>
              </a:rPr>
              <a:t>Slide credits:</a:t>
            </a:r>
          </a:p>
          <a:p>
            <a:pPr marL="2743200" lvl="0" indent="0" algn="l">
              <a:lnSpc>
                <a:spcPct val="80000"/>
              </a:lnSpc>
            </a:pPr>
            <a:r>
              <a:rPr lang="en-US" sz="1779" dirty="0">
                <a:solidFill>
                  <a:schemeClr val="dk1"/>
                </a:solidFill>
              </a:rPr>
              <a:t>Irfan Malik, Dr. </a:t>
            </a:r>
            <a:r>
              <a:rPr lang="en-US" sz="1779" dirty="0" err="1">
                <a:solidFill>
                  <a:schemeClr val="dk1"/>
                </a:solidFill>
              </a:rPr>
              <a:t>Sheraz</a:t>
            </a:r>
            <a:r>
              <a:rPr lang="en-US" sz="1779" dirty="0">
                <a:solidFill>
                  <a:schemeClr val="dk1"/>
                </a:solidFill>
              </a:rPr>
              <a:t> </a:t>
            </a:r>
            <a:r>
              <a:rPr lang="en-US" sz="1779" dirty="0" err="1">
                <a:solidFill>
                  <a:schemeClr val="dk1"/>
                </a:solidFill>
              </a:rPr>
              <a:t>Naseer</a:t>
            </a:r>
            <a:r>
              <a:rPr lang="en-US" sz="1779" dirty="0">
                <a:solidFill>
                  <a:schemeClr val="dk1"/>
                </a:solidFill>
              </a:rPr>
              <a:t> </a:t>
            </a:r>
          </a:p>
        </p:txBody>
      </p:sp>
      <p:pic>
        <p:nvPicPr>
          <p:cNvPr id="59" name="Google Shape;59;p2"/>
          <p:cNvPicPr preferRelativeResize="0"/>
          <p:nvPr/>
        </p:nvPicPr>
        <p:blipFill rotWithShape="1">
          <a:blip r:embed="rId3">
            <a:alphaModFix/>
          </a:blip>
          <a:srcRect/>
          <a:stretch/>
        </p:blipFill>
        <p:spPr>
          <a:xfrm>
            <a:off x="102825" y="4478925"/>
            <a:ext cx="2021288" cy="449175"/>
          </a:xfrm>
          <a:prstGeom prst="rect">
            <a:avLst/>
          </a:prstGeom>
          <a:noFill/>
          <a:ln>
            <a:noFill/>
          </a:ln>
        </p:spPr>
      </p:pic>
      <p:pic>
        <p:nvPicPr>
          <p:cNvPr id="60" name="Google Shape;60;p2"/>
          <p:cNvPicPr preferRelativeResize="0"/>
          <p:nvPr/>
        </p:nvPicPr>
        <p:blipFill rotWithShape="1">
          <a:blip r:embed="rId4">
            <a:alphaModFix/>
          </a:blip>
          <a:srcRect/>
          <a:stretch/>
        </p:blipFill>
        <p:spPr>
          <a:xfrm>
            <a:off x="7736950" y="4160975"/>
            <a:ext cx="1330074" cy="9163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g24f3b0113b5_3_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3020" b="1"/>
              <a:t>Agenda</a:t>
            </a:r>
            <a:endParaRPr sz="3020" b="1"/>
          </a:p>
        </p:txBody>
      </p:sp>
      <p:sp>
        <p:nvSpPr>
          <p:cNvPr id="66" name="Google Shape;66;g24f3b0113b5_3_5"/>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0" lvl="0" indent="0" algn="l" rtl="0">
              <a:lnSpc>
                <a:spcPct val="150000"/>
              </a:lnSpc>
              <a:spcBef>
                <a:spcPts val="0"/>
              </a:spcBef>
              <a:spcAft>
                <a:spcPts val="0"/>
              </a:spcAft>
              <a:buSzPts val="1665"/>
              <a:buNone/>
            </a:pPr>
            <a:r>
              <a:rPr lang="en">
                <a:solidFill>
                  <a:schemeClr val="dk1"/>
                </a:solidFill>
              </a:rPr>
              <a:t>Data Science processes</a:t>
            </a:r>
            <a:endParaRPr>
              <a:solidFill>
                <a:schemeClr val="dk1"/>
              </a:solidFill>
            </a:endParaRPr>
          </a:p>
        </p:txBody>
      </p:sp>
      <p:sp>
        <p:nvSpPr>
          <p:cNvPr id="67" name="Google Shape;67;g24f3b0113b5_3_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2b49bba9510_0_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91"/>
              <a:buFont typeface="Arial"/>
              <a:buNone/>
            </a:pPr>
            <a:r>
              <a:rPr lang="en" sz="3000" b="1"/>
              <a:t>Data Science Processes - I</a:t>
            </a:r>
            <a:endParaRPr sz="3000" b="1"/>
          </a:p>
        </p:txBody>
      </p:sp>
      <p:sp>
        <p:nvSpPr>
          <p:cNvPr id="94" name="Google Shape;94;g2b49bba9510_0_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4</a:t>
            </a:fld>
            <a:endParaRPr/>
          </a:p>
        </p:txBody>
      </p:sp>
      <p:pic>
        <p:nvPicPr>
          <p:cNvPr id="95" name="Google Shape;95;g2b49bba9510_0_15"/>
          <p:cNvPicPr preferRelativeResize="0"/>
          <p:nvPr/>
        </p:nvPicPr>
        <p:blipFill rotWithShape="1">
          <a:blip r:embed="rId3">
            <a:alphaModFix/>
          </a:blip>
          <a:srcRect r="13517"/>
          <a:stretch/>
        </p:blipFill>
        <p:spPr>
          <a:xfrm>
            <a:off x="713800" y="1017725"/>
            <a:ext cx="7390474" cy="40390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2b50650ef63_0_2"/>
          <p:cNvSpPr txBox="1">
            <a:spLocks noGrp="1"/>
          </p:cNvSpPr>
          <p:nvPr>
            <p:ph type="title"/>
          </p:nvPr>
        </p:nvSpPr>
        <p:spPr>
          <a:xfrm>
            <a:off x="219425" y="15670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91"/>
              <a:buFont typeface="Arial"/>
              <a:buNone/>
            </a:pPr>
            <a:r>
              <a:rPr lang="en" sz="3000" b="1"/>
              <a:t>Data Science Processes - II</a:t>
            </a:r>
            <a:endParaRPr sz="3000" b="1"/>
          </a:p>
        </p:txBody>
      </p:sp>
      <p:sp>
        <p:nvSpPr>
          <p:cNvPr id="101" name="Google Shape;101;g2b50650ef63_0_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5</a:t>
            </a:fld>
            <a:endParaRPr/>
          </a:p>
        </p:txBody>
      </p:sp>
      <p:pic>
        <p:nvPicPr>
          <p:cNvPr id="102" name="Google Shape;102;g2b50650ef63_0_2"/>
          <p:cNvPicPr preferRelativeResize="0"/>
          <p:nvPr/>
        </p:nvPicPr>
        <p:blipFill rotWithShape="1">
          <a:blip r:embed="rId3">
            <a:alphaModFix/>
          </a:blip>
          <a:srcRect r="3333"/>
          <a:stretch/>
        </p:blipFill>
        <p:spPr>
          <a:xfrm>
            <a:off x="371350" y="729400"/>
            <a:ext cx="8441802" cy="4265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2b50650ef63_0_8"/>
          <p:cNvSpPr txBox="1">
            <a:spLocks noGrp="1"/>
          </p:cNvSpPr>
          <p:nvPr>
            <p:ph type="title"/>
          </p:nvPr>
        </p:nvSpPr>
        <p:spPr>
          <a:xfrm>
            <a:off x="311700" y="19130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91"/>
              <a:buFont typeface="Arial"/>
              <a:buNone/>
            </a:pPr>
            <a:r>
              <a:rPr lang="en" sz="3000" b="1"/>
              <a:t>Data Science Processes - III</a:t>
            </a:r>
            <a:endParaRPr sz="3000" b="1"/>
          </a:p>
        </p:txBody>
      </p:sp>
      <p:sp>
        <p:nvSpPr>
          <p:cNvPr id="108" name="Google Shape;108;g2b50650ef63_0_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6</a:t>
            </a:fld>
            <a:endParaRPr/>
          </a:p>
        </p:txBody>
      </p:sp>
      <p:pic>
        <p:nvPicPr>
          <p:cNvPr id="109" name="Google Shape;109;g2b50650ef63_0_8"/>
          <p:cNvPicPr preferRelativeResize="0"/>
          <p:nvPr/>
        </p:nvPicPr>
        <p:blipFill rotWithShape="1">
          <a:blip r:embed="rId3">
            <a:alphaModFix/>
          </a:blip>
          <a:srcRect r="1458" b="2675"/>
          <a:stretch/>
        </p:blipFill>
        <p:spPr>
          <a:xfrm>
            <a:off x="188750" y="764000"/>
            <a:ext cx="8520602" cy="4274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000" b="1"/>
              <a:t>Data Skewness:</a:t>
            </a:r>
            <a:endParaRPr sz="3000" b="1"/>
          </a:p>
        </p:txBody>
      </p:sp>
      <p:sp>
        <p:nvSpPr>
          <p:cNvPr id="115" name="Google Shape;115;p3"/>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122873" lvl="0" indent="0" algn="l" rtl="0">
              <a:lnSpc>
                <a:spcPct val="130000"/>
              </a:lnSpc>
              <a:spcBef>
                <a:spcPts val="0"/>
              </a:spcBef>
              <a:spcAft>
                <a:spcPts val="0"/>
              </a:spcAft>
              <a:buSzPts val="1665"/>
              <a:buNone/>
            </a:pPr>
            <a:r>
              <a:rPr lang="en">
                <a:solidFill>
                  <a:srgbClr val="0C0C0C"/>
                </a:solidFill>
              </a:rPr>
              <a:t>Data skewness is </a:t>
            </a:r>
            <a:r>
              <a:rPr lang="en" b="1">
                <a:solidFill>
                  <a:srgbClr val="FF0000"/>
                </a:solidFill>
              </a:rPr>
              <a:t>an uneven distribution of data within a dataset</a:t>
            </a:r>
            <a:r>
              <a:rPr lang="en">
                <a:solidFill>
                  <a:srgbClr val="0C0C0C"/>
                </a:solidFill>
              </a:rPr>
              <a:t>. It occurs when certain values or ranges of values appear more frequently than others. This skewness can occur in various dimensions of the dataset, such as columns, partitions, or even individual files. </a:t>
            </a:r>
            <a:endParaRPr/>
          </a:p>
        </p:txBody>
      </p:sp>
      <p:sp>
        <p:nvSpPr>
          <p:cNvPr id="116" name="Google Shape;1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1e44a481ae3_0_26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891"/>
              <a:buFont typeface="Arial"/>
              <a:buNone/>
            </a:pPr>
            <a:r>
              <a:rPr lang="en" sz="3000" b="1"/>
              <a:t>Distributions</a:t>
            </a:r>
            <a:endParaRPr sz="3000" b="1"/>
          </a:p>
        </p:txBody>
      </p:sp>
      <p:sp>
        <p:nvSpPr>
          <p:cNvPr id="122" name="Google Shape;122;g1e44a481ae3_0_2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8</a:t>
            </a:fld>
            <a:endParaRPr/>
          </a:p>
        </p:txBody>
      </p:sp>
      <p:pic>
        <p:nvPicPr>
          <p:cNvPr id="123" name="Google Shape;123;g1e44a481ae3_0_266"/>
          <p:cNvPicPr preferRelativeResize="0"/>
          <p:nvPr/>
        </p:nvPicPr>
        <p:blipFill rotWithShape="1">
          <a:blip r:embed="rId3">
            <a:alphaModFix/>
          </a:blip>
          <a:srcRect/>
          <a:stretch/>
        </p:blipFill>
        <p:spPr>
          <a:xfrm>
            <a:off x="311700" y="1155750"/>
            <a:ext cx="8520600" cy="34639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body" idx="1"/>
          </p:nvPr>
        </p:nvSpPr>
        <p:spPr>
          <a:xfrm>
            <a:off x="257325" y="754602"/>
            <a:ext cx="8650800" cy="4302273"/>
          </a:xfrm>
          <a:prstGeom prst="rect">
            <a:avLst/>
          </a:prstGeom>
          <a:noFill/>
          <a:ln>
            <a:noFill/>
          </a:ln>
        </p:spPr>
        <p:txBody>
          <a:bodyPr spcFirstLastPara="1" wrap="square" lIns="91425" tIns="91425" rIns="91425" bIns="91425" anchor="t" anchorCtr="0">
            <a:normAutofit/>
          </a:bodyPr>
          <a:lstStyle/>
          <a:p>
            <a:pPr marL="122873" lvl="0" indent="0" algn="l" rtl="0">
              <a:lnSpc>
                <a:spcPct val="130000"/>
              </a:lnSpc>
              <a:spcBef>
                <a:spcPts val="0"/>
              </a:spcBef>
              <a:spcAft>
                <a:spcPts val="0"/>
              </a:spcAft>
              <a:buSzPts val="1665"/>
              <a:buNone/>
            </a:pPr>
            <a:endParaRPr b="1" dirty="0">
              <a:solidFill>
                <a:srgbClr val="0C0C0C"/>
              </a:solidFill>
            </a:endParaRPr>
          </a:p>
          <a:p>
            <a:pPr marL="122873" lvl="0" indent="0" algn="l" rtl="0">
              <a:lnSpc>
                <a:spcPct val="130000"/>
              </a:lnSpc>
              <a:spcBef>
                <a:spcPts val="0"/>
              </a:spcBef>
              <a:spcAft>
                <a:spcPts val="0"/>
              </a:spcAft>
              <a:buSzPts val="1665"/>
              <a:buNone/>
            </a:pPr>
            <a:r>
              <a:rPr lang="en" b="1" dirty="0" smtClean="0">
                <a:solidFill>
                  <a:srgbClr val="FF0000"/>
                </a:solidFill>
              </a:rPr>
              <a:t>Positive </a:t>
            </a:r>
            <a:r>
              <a:rPr lang="en" b="1" dirty="0">
                <a:solidFill>
                  <a:srgbClr val="FF0000"/>
                </a:solidFill>
              </a:rPr>
              <a:t>Skewness</a:t>
            </a:r>
            <a:r>
              <a:rPr lang="en" b="1" dirty="0">
                <a:solidFill>
                  <a:srgbClr val="0C0C0C"/>
                </a:solidFill>
              </a:rPr>
              <a:t>: </a:t>
            </a:r>
            <a:r>
              <a:rPr lang="en" dirty="0">
                <a:solidFill>
                  <a:srgbClr val="0C0C0C"/>
                </a:solidFill>
              </a:rPr>
              <a:t>If the mode is smaller than the mean, the data is positively skewed. </a:t>
            </a:r>
            <a:r>
              <a:rPr lang="en" dirty="0"/>
              <a:t/>
            </a:r>
            <a:br>
              <a:rPr lang="en" dirty="0"/>
            </a:br>
            <a:endParaRPr b="1" dirty="0">
              <a:solidFill>
                <a:srgbClr val="0C0C0C"/>
              </a:solidFill>
            </a:endParaRPr>
          </a:p>
          <a:p>
            <a:pPr marL="122873" lvl="0" indent="0" algn="l" rtl="0">
              <a:lnSpc>
                <a:spcPct val="130000"/>
              </a:lnSpc>
              <a:spcBef>
                <a:spcPts val="0"/>
              </a:spcBef>
              <a:spcAft>
                <a:spcPts val="0"/>
              </a:spcAft>
              <a:buSzPts val="1665"/>
              <a:buNone/>
            </a:pPr>
            <a:r>
              <a:rPr lang="en" b="1" dirty="0" smtClean="0">
                <a:solidFill>
                  <a:srgbClr val="FF0000"/>
                </a:solidFill>
              </a:rPr>
              <a:t>Negative </a:t>
            </a:r>
            <a:r>
              <a:rPr lang="en" b="1" dirty="0">
                <a:solidFill>
                  <a:srgbClr val="FF0000"/>
                </a:solidFill>
              </a:rPr>
              <a:t>Skewness</a:t>
            </a:r>
            <a:r>
              <a:rPr lang="en" dirty="0">
                <a:solidFill>
                  <a:srgbClr val="0C0C0C"/>
                </a:solidFill>
              </a:rPr>
              <a:t>: If the mean is smaller than the mode, the data is negatively skewed.</a:t>
            </a:r>
            <a:endParaRPr b="1" dirty="0">
              <a:solidFill>
                <a:srgbClr val="0C0C0C"/>
              </a:solidFill>
            </a:endParaRPr>
          </a:p>
          <a:p>
            <a:pPr marL="122873" lvl="0" indent="0" algn="l" rtl="0">
              <a:lnSpc>
                <a:spcPct val="130000"/>
              </a:lnSpc>
              <a:spcBef>
                <a:spcPts val="0"/>
              </a:spcBef>
              <a:spcAft>
                <a:spcPts val="0"/>
              </a:spcAft>
              <a:buSzPts val="1665"/>
              <a:buNone/>
            </a:pPr>
            <a:endParaRPr b="1" dirty="0">
              <a:solidFill>
                <a:srgbClr val="0C0C0C"/>
              </a:solidFill>
            </a:endParaRPr>
          </a:p>
          <a:p>
            <a:pPr marL="122873" lvl="0" indent="0" algn="l" rtl="0">
              <a:lnSpc>
                <a:spcPct val="130000"/>
              </a:lnSpc>
              <a:spcBef>
                <a:spcPts val="0"/>
              </a:spcBef>
              <a:spcAft>
                <a:spcPts val="0"/>
              </a:spcAft>
              <a:buSzPts val="1665"/>
              <a:buNone/>
            </a:pPr>
            <a:r>
              <a:rPr lang="en" b="1" dirty="0">
                <a:solidFill>
                  <a:srgbClr val="FF0000"/>
                </a:solidFill>
              </a:rPr>
              <a:t>Symmetrical Distribution</a:t>
            </a:r>
            <a:r>
              <a:rPr lang="en" b="1" dirty="0">
                <a:solidFill>
                  <a:srgbClr val="0C0C0C"/>
                </a:solidFill>
              </a:rPr>
              <a:t>: </a:t>
            </a:r>
            <a:r>
              <a:rPr lang="en" dirty="0">
                <a:solidFill>
                  <a:srgbClr val="0C0C0C"/>
                </a:solidFill>
              </a:rPr>
              <a:t>Mean, median, and mode are all equal; distribution is balanced.</a:t>
            </a:r>
            <a:endParaRPr dirty="0"/>
          </a:p>
        </p:txBody>
      </p:sp>
      <p:sp>
        <p:nvSpPr>
          <p:cNvPr id="129" name="Google Shape;12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sp>
        <p:nvSpPr>
          <p:cNvPr id="130" name="Google Shape;130;p4"/>
          <p:cNvSpPr/>
          <p:nvPr/>
        </p:nvSpPr>
        <p:spPr>
          <a:xfrm>
            <a:off x="0" y="0"/>
            <a:ext cx="3386138" cy="0"/>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
            </a:r>
            <a:br>
              <a:rPr lang="en" sz="1800" b="0" i="0" u="none" strike="noStrike" cap="none">
                <a:solidFill>
                  <a:srgbClr val="000000"/>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
        <p:nvSpPr>
          <p:cNvPr id="131" name="Google Shape;131;p4"/>
          <p:cNvSpPr/>
          <p:nvPr/>
        </p:nvSpPr>
        <p:spPr>
          <a:xfrm>
            <a:off x="152400" y="152400"/>
            <a:ext cx="3386138" cy="0"/>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
            </a:r>
            <a:br>
              <a:rPr lang="en" sz="1800" b="0" i="0" u="none" strike="noStrike" cap="none">
                <a:solidFill>
                  <a:srgbClr val="000000"/>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
        <p:nvSpPr>
          <p:cNvPr id="132" name="Google Shape;132;p4"/>
          <p:cNvSpPr/>
          <p:nvPr/>
        </p:nvSpPr>
        <p:spPr>
          <a:xfrm>
            <a:off x="304800" y="304800"/>
            <a:ext cx="3386138" cy="0"/>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
            </a:r>
            <a:br>
              <a:rPr lang="en" sz="1800" b="0" i="0" u="none" strike="noStrike" cap="none">
                <a:solidFill>
                  <a:srgbClr val="000000"/>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
        <p:nvSpPr>
          <p:cNvPr id="133" name="Google Shape;133;p4"/>
          <p:cNvSpPr/>
          <p:nvPr/>
        </p:nvSpPr>
        <p:spPr>
          <a:xfrm>
            <a:off x="457200" y="457200"/>
            <a:ext cx="3386138" cy="0"/>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
            </a:r>
            <a:br>
              <a:rPr lang="en" sz="1800" b="0" i="0" u="none" strike="noStrike" cap="none">
                <a:solidFill>
                  <a:srgbClr val="000000"/>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
        <p:nvSpPr>
          <p:cNvPr id="134" name="Google Shape;134;p4"/>
          <p:cNvSpPr/>
          <p:nvPr/>
        </p:nvSpPr>
        <p:spPr>
          <a:xfrm>
            <a:off x="609600" y="609600"/>
            <a:ext cx="3386138" cy="0"/>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
            </a:r>
            <a:br>
              <a:rPr lang="en" sz="1800" b="0" i="0" u="none" strike="noStrike" cap="none">
                <a:solidFill>
                  <a:srgbClr val="000000"/>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94276"/>
              <a:buNone/>
            </a:pPr>
            <a:r>
              <a:rPr lang="en" sz="3300" b="1">
                <a:solidFill>
                  <a:srgbClr val="0C0C0C"/>
                </a:solidFill>
              </a:rPr>
              <a:t>Data Transformation:</a:t>
            </a:r>
            <a:endParaRPr/>
          </a:p>
        </p:txBody>
      </p:sp>
      <p:sp>
        <p:nvSpPr>
          <p:cNvPr id="140" name="Google Shape;140;p5"/>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457200" lvl="0" indent="-334327" algn="l" rtl="0">
              <a:lnSpc>
                <a:spcPct val="130000"/>
              </a:lnSpc>
              <a:spcBef>
                <a:spcPts val="0"/>
              </a:spcBef>
              <a:spcAft>
                <a:spcPts val="0"/>
              </a:spcAft>
              <a:buSzPts val="1665"/>
              <a:buChar char="●"/>
            </a:pPr>
            <a:r>
              <a:rPr lang="en">
                <a:solidFill>
                  <a:srgbClr val="0C0C0C"/>
                </a:solidFill>
              </a:rPr>
              <a:t>Data transformation is the </a:t>
            </a:r>
            <a:r>
              <a:rPr lang="en" b="1">
                <a:solidFill>
                  <a:srgbClr val="FF0000"/>
                </a:solidFill>
              </a:rPr>
              <a:t>process</a:t>
            </a:r>
            <a:r>
              <a:rPr lang="en">
                <a:solidFill>
                  <a:srgbClr val="0C0C0C"/>
                </a:solidFill>
              </a:rPr>
              <a:t> of </a:t>
            </a:r>
            <a:r>
              <a:rPr lang="en" b="1">
                <a:solidFill>
                  <a:srgbClr val="FF0000"/>
                </a:solidFill>
              </a:rPr>
              <a:t>converting</a:t>
            </a:r>
            <a:r>
              <a:rPr lang="en">
                <a:solidFill>
                  <a:srgbClr val="0C0C0C"/>
                </a:solidFill>
              </a:rPr>
              <a:t>, </a:t>
            </a:r>
            <a:r>
              <a:rPr lang="en" b="1">
                <a:solidFill>
                  <a:srgbClr val="FF0000"/>
                </a:solidFill>
              </a:rPr>
              <a:t>cleansing</a:t>
            </a:r>
            <a:r>
              <a:rPr lang="en">
                <a:solidFill>
                  <a:srgbClr val="0C0C0C"/>
                </a:solidFill>
              </a:rPr>
              <a:t>, and </a:t>
            </a:r>
            <a:r>
              <a:rPr lang="en" b="1">
                <a:solidFill>
                  <a:srgbClr val="FF0000"/>
                </a:solidFill>
              </a:rPr>
              <a:t>structuring data </a:t>
            </a:r>
            <a:r>
              <a:rPr lang="en">
                <a:solidFill>
                  <a:srgbClr val="0C0C0C"/>
                </a:solidFill>
              </a:rPr>
              <a:t>into </a:t>
            </a:r>
            <a:r>
              <a:rPr lang="en" b="1">
                <a:solidFill>
                  <a:srgbClr val="FF0000"/>
                </a:solidFill>
              </a:rPr>
              <a:t>a usable format </a:t>
            </a:r>
            <a:r>
              <a:rPr lang="en">
                <a:solidFill>
                  <a:srgbClr val="0C0C0C"/>
                </a:solidFill>
              </a:rPr>
              <a:t>that can be analyzed to </a:t>
            </a:r>
            <a:r>
              <a:rPr lang="en" b="1">
                <a:solidFill>
                  <a:srgbClr val="FF0000"/>
                </a:solidFill>
              </a:rPr>
              <a:t>support decision making processes</a:t>
            </a:r>
            <a:r>
              <a:rPr lang="en">
                <a:solidFill>
                  <a:srgbClr val="0C0C0C"/>
                </a:solidFill>
              </a:rPr>
              <a:t>, and to propel the growth of an organization.</a:t>
            </a:r>
            <a:endParaRPr/>
          </a:p>
        </p:txBody>
      </p:sp>
      <p:sp>
        <p:nvSpPr>
          <p:cNvPr id="141" name="Google Shape;14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10</a:t>
            </a:fld>
            <a:endParaRPr/>
          </a:p>
        </p:txBody>
      </p:sp>
      <p:pic>
        <p:nvPicPr>
          <p:cNvPr id="142" name="Google Shape;142;p5"/>
          <p:cNvPicPr preferRelativeResize="0"/>
          <p:nvPr/>
        </p:nvPicPr>
        <p:blipFill rotWithShape="1">
          <a:blip r:embed="rId3">
            <a:alphaModFix/>
          </a:blip>
          <a:srcRect l="10888" t="15303" r="14632" b="12657"/>
          <a:stretch/>
        </p:blipFill>
        <p:spPr>
          <a:xfrm>
            <a:off x="2678226" y="2357212"/>
            <a:ext cx="3787548" cy="26167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000" b="1"/>
              <a:t>Smoothing:</a:t>
            </a:r>
            <a:endParaRPr sz="3000" b="1"/>
          </a:p>
        </p:txBody>
      </p:sp>
      <p:sp>
        <p:nvSpPr>
          <p:cNvPr id="148" name="Google Shape;148;p6"/>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457200" lvl="0" indent="-334327" algn="l" rtl="0">
              <a:lnSpc>
                <a:spcPct val="130000"/>
              </a:lnSpc>
              <a:spcBef>
                <a:spcPts val="0"/>
              </a:spcBef>
              <a:spcAft>
                <a:spcPts val="0"/>
              </a:spcAft>
              <a:buSzPts val="1665"/>
              <a:buChar char="●"/>
            </a:pPr>
            <a:r>
              <a:rPr lang="en">
                <a:solidFill>
                  <a:srgbClr val="0C0C0C"/>
                </a:solidFill>
              </a:rPr>
              <a:t>Smoothing in data preprocessing refers to a set of techniques used to </a:t>
            </a:r>
            <a:r>
              <a:rPr lang="en" b="1">
                <a:solidFill>
                  <a:srgbClr val="FF0000"/>
                </a:solidFill>
              </a:rPr>
              <a:t>reduce noise and fluctuations</a:t>
            </a:r>
            <a:r>
              <a:rPr lang="en">
                <a:solidFill>
                  <a:srgbClr val="0C0C0C"/>
                </a:solidFill>
              </a:rPr>
              <a:t> in data while preserving important underlying trends and patterns. It is a crucial step in preparing data for analysis and modeling, particularly when dealing with noisy or uneven data points.</a:t>
            </a:r>
            <a:endParaRPr>
              <a:solidFill>
                <a:srgbClr val="0C0C0C"/>
              </a:solidFill>
            </a:endParaRPr>
          </a:p>
        </p:txBody>
      </p:sp>
      <p:sp>
        <p:nvSpPr>
          <p:cNvPr id="149" name="Google Shape;149;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11</a:t>
            </a:fld>
            <a:endParaRPr/>
          </a:p>
        </p:txBody>
      </p:sp>
      <p:pic>
        <p:nvPicPr>
          <p:cNvPr id="150" name="Google Shape;150;p6"/>
          <p:cNvPicPr preferRelativeResize="0"/>
          <p:nvPr/>
        </p:nvPicPr>
        <p:blipFill rotWithShape="1">
          <a:blip r:embed="rId3">
            <a:alphaModFix/>
          </a:blip>
          <a:srcRect l="853" t="1561" r="5944" b="50067"/>
          <a:stretch/>
        </p:blipFill>
        <p:spPr>
          <a:xfrm>
            <a:off x="3130476" y="2788383"/>
            <a:ext cx="5202316" cy="1126669"/>
          </a:xfrm>
          <a:prstGeom prst="rect">
            <a:avLst/>
          </a:prstGeom>
          <a:noFill/>
          <a:ln>
            <a:noFill/>
          </a:ln>
        </p:spPr>
      </p:pic>
      <p:pic>
        <p:nvPicPr>
          <p:cNvPr id="151" name="Google Shape;151;p6"/>
          <p:cNvPicPr preferRelativeResize="0"/>
          <p:nvPr/>
        </p:nvPicPr>
        <p:blipFill rotWithShape="1">
          <a:blip r:embed="rId3">
            <a:alphaModFix/>
          </a:blip>
          <a:srcRect l="853" t="52937" r="5466" b="4224"/>
          <a:stretch/>
        </p:blipFill>
        <p:spPr>
          <a:xfrm>
            <a:off x="3130476" y="3817398"/>
            <a:ext cx="5228949" cy="105033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000" b="1"/>
              <a:t>Feature Engineering:</a:t>
            </a:r>
            <a:endParaRPr sz="3000"/>
          </a:p>
        </p:txBody>
      </p:sp>
      <p:sp>
        <p:nvSpPr>
          <p:cNvPr id="157" name="Google Shape;157;p7"/>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457200" lvl="0" indent="-334327" algn="l" rtl="0">
              <a:lnSpc>
                <a:spcPct val="130000"/>
              </a:lnSpc>
              <a:spcBef>
                <a:spcPts val="0"/>
              </a:spcBef>
              <a:spcAft>
                <a:spcPts val="0"/>
              </a:spcAft>
              <a:buSzPts val="1665"/>
              <a:buChar char="●"/>
            </a:pPr>
            <a:r>
              <a:rPr lang="en">
                <a:solidFill>
                  <a:srgbClr val="0C0C0C"/>
                </a:solidFill>
              </a:rPr>
              <a:t>Feature engineering is an essential step in the data science process that involves </a:t>
            </a:r>
            <a:r>
              <a:rPr lang="en" b="1">
                <a:solidFill>
                  <a:srgbClr val="FF0000"/>
                </a:solidFill>
              </a:rPr>
              <a:t>creating and transforming raw data into features suitable for building machine learning models.</a:t>
            </a:r>
            <a:endParaRPr/>
          </a:p>
        </p:txBody>
      </p:sp>
      <p:sp>
        <p:nvSpPr>
          <p:cNvPr id="158" name="Google Shape;158;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12</a:t>
            </a:fld>
            <a:endParaRPr/>
          </a:p>
        </p:txBody>
      </p:sp>
      <p:pic>
        <p:nvPicPr>
          <p:cNvPr id="159" name="Google Shape;159;p7"/>
          <p:cNvPicPr preferRelativeResize="0"/>
          <p:nvPr/>
        </p:nvPicPr>
        <p:blipFill rotWithShape="1">
          <a:blip r:embed="rId3">
            <a:alphaModFix/>
          </a:blip>
          <a:srcRect/>
          <a:stretch/>
        </p:blipFill>
        <p:spPr>
          <a:xfrm>
            <a:off x="2042047" y="2512382"/>
            <a:ext cx="6430412" cy="243790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000" b="1"/>
              <a:t>Data Normalization:</a:t>
            </a:r>
            <a:endParaRPr sz="3000" b="1"/>
          </a:p>
        </p:txBody>
      </p:sp>
      <p:sp>
        <p:nvSpPr>
          <p:cNvPr id="165" name="Google Shape;165;p8"/>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122873" lvl="0" indent="0" algn="l" rtl="0">
              <a:lnSpc>
                <a:spcPct val="130000"/>
              </a:lnSpc>
              <a:spcBef>
                <a:spcPts val="0"/>
              </a:spcBef>
              <a:spcAft>
                <a:spcPts val="0"/>
              </a:spcAft>
              <a:buSzPts val="1665"/>
              <a:buNone/>
            </a:pPr>
            <a:r>
              <a:rPr lang="en"/>
              <a:t>Normalization is a data preprocessing technique that </a:t>
            </a:r>
            <a:r>
              <a:rPr lang="en" b="1">
                <a:solidFill>
                  <a:srgbClr val="FF0000"/>
                </a:solidFill>
              </a:rPr>
              <a:t>transforms data values </a:t>
            </a:r>
            <a:r>
              <a:rPr lang="en"/>
              <a:t>to a </a:t>
            </a:r>
            <a:r>
              <a:rPr lang="en" b="1">
                <a:solidFill>
                  <a:srgbClr val="FF0000"/>
                </a:solidFill>
              </a:rPr>
              <a:t>common scale </a:t>
            </a:r>
            <a:r>
              <a:rPr lang="en"/>
              <a:t>or </a:t>
            </a:r>
            <a:r>
              <a:rPr lang="en" b="1">
                <a:solidFill>
                  <a:srgbClr val="FF0000"/>
                </a:solidFill>
              </a:rPr>
              <a:t>distribution of values</a:t>
            </a:r>
            <a:r>
              <a:rPr lang="en"/>
              <a:t>. It can include adjusting the scale of values to a similar metric or adjusting the time scales to be able to compare like periods.</a:t>
            </a:r>
            <a:endParaRPr/>
          </a:p>
          <a:p>
            <a:pPr marL="122873" lvl="0" indent="0" algn="l" rtl="0">
              <a:lnSpc>
                <a:spcPct val="130000"/>
              </a:lnSpc>
              <a:spcBef>
                <a:spcPts val="0"/>
              </a:spcBef>
              <a:spcAft>
                <a:spcPts val="0"/>
              </a:spcAft>
              <a:buSzPts val="1665"/>
              <a:buNone/>
            </a:pPr>
            <a:r>
              <a:rPr lang="en">
                <a:solidFill>
                  <a:srgbClr val="424242"/>
                </a:solidFill>
              </a:rPr>
              <a:t> </a:t>
            </a:r>
            <a:endParaRPr>
              <a:solidFill>
                <a:srgbClr val="424242"/>
              </a:solidFill>
            </a:endParaRPr>
          </a:p>
          <a:p>
            <a:pPr marL="122873" lvl="0" indent="0" algn="l" rtl="0">
              <a:lnSpc>
                <a:spcPct val="130000"/>
              </a:lnSpc>
              <a:spcBef>
                <a:spcPts val="0"/>
              </a:spcBef>
              <a:spcAft>
                <a:spcPts val="0"/>
              </a:spcAft>
              <a:buSzPts val="1665"/>
              <a:buNone/>
            </a:pPr>
            <a:endParaRPr sz="3000" b="1">
              <a:solidFill>
                <a:srgbClr val="0C0C0C"/>
              </a:solidFill>
            </a:endParaRPr>
          </a:p>
          <a:p>
            <a:pPr marL="122873" lvl="0" indent="0" algn="l" rtl="0">
              <a:lnSpc>
                <a:spcPct val="130000"/>
              </a:lnSpc>
              <a:spcBef>
                <a:spcPts val="0"/>
              </a:spcBef>
              <a:spcAft>
                <a:spcPts val="0"/>
              </a:spcAft>
              <a:buSzPts val="1665"/>
              <a:buNone/>
            </a:pPr>
            <a:r>
              <a:rPr lang="en" b="1">
                <a:solidFill>
                  <a:srgbClr val="0C0C0C"/>
                </a:solidFill>
              </a:rPr>
              <a:t> </a:t>
            </a:r>
            <a:endParaRPr>
              <a:solidFill>
                <a:srgbClr val="0C0C0C"/>
              </a:solidFill>
            </a:endParaRPr>
          </a:p>
        </p:txBody>
      </p:sp>
      <p:sp>
        <p:nvSpPr>
          <p:cNvPr id="166" name="Google Shape;16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000" b="1">
                <a:solidFill>
                  <a:srgbClr val="0C0C0C"/>
                </a:solidFill>
              </a:rPr>
              <a:t>Scaling:</a:t>
            </a:r>
            <a:br>
              <a:rPr lang="en" sz="3000" b="1">
                <a:solidFill>
                  <a:srgbClr val="0C0C0C"/>
                </a:solidFill>
              </a:rPr>
            </a:br>
            <a:endParaRPr sz="3000"/>
          </a:p>
        </p:txBody>
      </p:sp>
      <p:sp>
        <p:nvSpPr>
          <p:cNvPr id="172" name="Google Shape;172;p9"/>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457200" lvl="0" indent="-334327" algn="l" rtl="0">
              <a:lnSpc>
                <a:spcPct val="130000"/>
              </a:lnSpc>
              <a:spcBef>
                <a:spcPts val="0"/>
              </a:spcBef>
              <a:spcAft>
                <a:spcPts val="0"/>
              </a:spcAft>
              <a:buClr>
                <a:schemeClr val="dk1"/>
              </a:buClr>
              <a:buSzPts val="1665"/>
              <a:buAutoNum type="arabicPeriod"/>
            </a:pPr>
            <a:r>
              <a:rPr lang="en">
                <a:solidFill>
                  <a:srgbClr val="424242"/>
                </a:solidFill>
              </a:rPr>
              <a:t>Min Max Scaling </a:t>
            </a:r>
            <a:endParaRPr/>
          </a:p>
          <a:p>
            <a:pPr marL="457200" lvl="0" indent="-334327" algn="l" rtl="0">
              <a:lnSpc>
                <a:spcPct val="130000"/>
              </a:lnSpc>
              <a:spcBef>
                <a:spcPts val="0"/>
              </a:spcBef>
              <a:spcAft>
                <a:spcPts val="0"/>
              </a:spcAft>
              <a:buClr>
                <a:schemeClr val="dk1"/>
              </a:buClr>
              <a:buSzPts val="1665"/>
              <a:buAutoNum type="arabicPeriod"/>
            </a:pPr>
            <a:r>
              <a:rPr lang="en">
                <a:solidFill>
                  <a:srgbClr val="424242"/>
                </a:solidFill>
              </a:rPr>
              <a:t>Z-score Scaling</a:t>
            </a:r>
            <a:endParaRPr/>
          </a:p>
        </p:txBody>
      </p:sp>
      <p:sp>
        <p:nvSpPr>
          <p:cNvPr id="173" name="Google Shape;173;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 sz="3000" b="1"/>
              <a:t>Data Visualization Charts</a:t>
            </a:r>
            <a:endParaRPr sz="3000" b="1"/>
          </a:p>
        </p:txBody>
      </p:sp>
      <p:sp>
        <p:nvSpPr>
          <p:cNvPr id="224" name="Google Shape;22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16</a:t>
            </a:fld>
            <a:endParaRPr/>
          </a:p>
        </p:txBody>
      </p:sp>
      <p:pic>
        <p:nvPicPr>
          <p:cNvPr id="230" name="Google Shape;230;p17"/>
          <p:cNvPicPr preferRelativeResize="0"/>
          <p:nvPr/>
        </p:nvPicPr>
        <p:blipFill rotWithShape="1">
          <a:blip r:embed="rId3">
            <a:alphaModFix/>
          </a:blip>
          <a:srcRect/>
          <a:stretch/>
        </p:blipFill>
        <p:spPr>
          <a:xfrm>
            <a:off x="367169" y="458715"/>
            <a:ext cx="8242438" cy="44013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000" b="1"/>
              <a:t>Model Building:</a:t>
            </a:r>
            <a:endParaRPr sz="3000" b="1"/>
          </a:p>
        </p:txBody>
      </p:sp>
      <p:sp>
        <p:nvSpPr>
          <p:cNvPr id="249" name="Google Shape;249;p20"/>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457200" lvl="0" indent="-334327" algn="l" rtl="0">
              <a:lnSpc>
                <a:spcPct val="130000"/>
              </a:lnSpc>
              <a:spcBef>
                <a:spcPts val="0"/>
              </a:spcBef>
              <a:spcAft>
                <a:spcPts val="0"/>
              </a:spcAft>
              <a:buSzPts val="1665"/>
              <a:buChar char="●"/>
            </a:pPr>
            <a:r>
              <a:rPr lang="en">
                <a:solidFill>
                  <a:srgbClr val="0C0C0C"/>
                </a:solidFill>
              </a:rPr>
              <a:t>Model building involves the </a:t>
            </a:r>
            <a:r>
              <a:rPr lang="en" b="1">
                <a:solidFill>
                  <a:srgbClr val="FF0000"/>
                </a:solidFill>
              </a:rPr>
              <a:t>process of selecting </a:t>
            </a:r>
            <a:r>
              <a:rPr lang="en">
                <a:solidFill>
                  <a:srgbClr val="0C0C0C"/>
                </a:solidFill>
              </a:rPr>
              <a:t>and </a:t>
            </a:r>
            <a:r>
              <a:rPr lang="en" b="1">
                <a:solidFill>
                  <a:srgbClr val="FF0000"/>
                </a:solidFill>
              </a:rPr>
              <a:t>training</a:t>
            </a:r>
            <a:r>
              <a:rPr lang="en">
                <a:solidFill>
                  <a:srgbClr val="0C0C0C"/>
                </a:solidFill>
              </a:rPr>
              <a:t> a machine learning model using a dataset to </a:t>
            </a:r>
            <a:r>
              <a:rPr lang="en" b="1">
                <a:solidFill>
                  <a:srgbClr val="FF0000"/>
                </a:solidFill>
              </a:rPr>
              <a:t>learn patterns </a:t>
            </a:r>
            <a:r>
              <a:rPr lang="en">
                <a:solidFill>
                  <a:srgbClr val="0C0C0C"/>
                </a:solidFill>
              </a:rPr>
              <a:t>and </a:t>
            </a:r>
            <a:r>
              <a:rPr lang="en" b="1">
                <a:solidFill>
                  <a:srgbClr val="FF0000"/>
                </a:solidFill>
              </a:rPr>
              <a:t>relationships</a:t>
            </a:r>
            <a:r>
              <a:rPr lang="en">
                <a:solidFill>
                  <a:srgbClr val="0C0C0C"/>
                </a:solidFill>
              </a:rPr>
              <a:t> within the data. This typically includes steps such as preprocessing the data, selecting an appropriate algorithm, splitting the data into training and validation sets, training the model on the training set, and evaluating its performance on the validation set.</a:t>
            </a:r>
            <a:endParaRPr/>
          </a:p>
        </p:txBody>
      </p:sp>
      <p:sp>
        <p:nvSpPr>
          <p:cNvPr id="250" name="Google Shape;25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17</a:t>
            </a:fld>
            <a:endParaRPr/>
          </a:p>
        </p:txBody>
      </p:sp>
      <p:pic>
        <p:nvPicPr>
          <p:cNvPr id="251" name="Google Shape;251;p20"/>
          <p:cNvPicPr preferRelativeResize="0"/>
          <p:nvPr/>
        </p:nvPicPr>
        <p:blipFill rotWithShape="1">
          <a:blip r:embed="rId3">
            <a:alphaModFix/>
          </a:blip>
          <a:srcRect t="30289" b="50071"/>
          <a:stretch/>
        </p:blipFill>
        <p:spPr>
          <a:xfrm>
            <a:off x="1263588" y="3781887"/>
            <a:ext cx="6794324" cy="51490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000" b="1"/>
              <a:t>Model Validation:</a:t>
            </a:r>
            <a:endParaRPr sz="3000" b="1"/>
          </a:p>
        </p:txBody>
      </p:sp>
      <p:sp>
        <p:nvSpPr>
          <p:cNvPr id="257" name="Google Shape;257;p33"/>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457200" lvl="0" indent="-334327" algn="l" rtl="0">
              <a:lnSpc>
                <a:spcPct val="130000"/>
              </a:lnSpc>
              <a:spcBef>
                <a:spcPts val="0"/>
              </a:spcBef>
              <a:spcAft>
                <a:spcPts val="0"/>
              </a:spcAft>
              <a:buSzPts val="1665"/>
              <a:buChar char="●"/>
            </a:pPr>
            <a:r>
              <a:rPr lang="en">
                <a:solidFill>
                  <a:srgbClr val="0C0C0C"/>
                </a:solidFill>
              </a:rPr>
              <a:t>Model validation is </a:t>
            </a:r>
            <a:r>
              <a:rPr lang="en" b="1">
                <a:solidFill>
                  <a:srgbClr val="FF0000"/>
                </a:solidFill>
              </a:rPr>
              <a:t>a machine learning (ML) process </a:t>
            </a:r>
            <a:r>
              <a:rPr lang="en">
                <a:solidFill>
                  <a:srgbClr val="0C0C0C"/>
                </a:solidFill>
              </a:rPr>
              <a:t>that </a:t>
            </a:r>
            <a:r>
              <a:rPr lang="en" b="1">
                <a:solidFill>
                  <a:srgbClr val="FF0000"/>
                </a:solidFill>
              </a:rPr>
              <a:t>assesses how well a model can produce predictions or outputs</a:t>
            </a:r>
            <a:r>
              <a:rPr lang="en">
                <a:solidFill>
                  <a:srgbClr val="0C0C0C"/>
                </a:solidFill>
              </a:rPr>
              <a:t>. It's important to validate models before deployment to ensure they're accurate and reliable.</a:t>
            </a:r>
            <a:endParaRPr/>
          </a:p>
        </p:txBody>
      </p:sp>
      <p:sp>
        <p:nvSpPr>
          <p:cNvPr id="258" name="Google Shape;258;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3000" b="1"/>
              <a:t>Linear Regression</a:t>
            </a:r>
            <a:endParaRPr sz="3000" b="1"/>
          </a:p>
        </p:txBody>
      </p:sp>
      <p:sp>
        <p:nvSpPr>
          <p:cNvPr id="271" name="Google Shape;271;p35"/>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0" lvl="0" indent="0" algn="l" rtl="0">
              <a:lnSpc>
                <a:spcPct val="130000"/>
              </a:lnSpc>
              <a:spcBef>
                <a:spcPts val="0"/>
              </a:spcBef>
              <a:spcAft>
                <a:spcPts val="0"/>
              </a:spcAft>
              <a:buSzPts val="1665"/>
              <a:buNone/>
            </a:pPr>
            <a:r>
              <a:rPr lang="en">
                <a:solidFill>
                  <a:srgbClr val="000000"/>
                </a:solidFill>
              </a:rPr>
              <a:t>Linear regression is a </a:t>
            </a:r>
            <a:r>
              <a:rPr lang="en" b="1">
                <a:solidFill>
                  <a:srgbClr val="CC0000"/>
                </a:solidFill>
              </a:rPr>
              <a:t>supervised </a:t>
            </a:r>
            <a:r>
              <a:rPr lang="en">
                <a:solidFill>
                  <a:srgbClr val="000000"/>
                </a:solidFill>
              </a:rPr>
              <a:t>machine learning algorithm used for predicting a </a:t>
            </a:r>
            <a:r>
              <a:rPr lang="en" b="1">
                <a:solidFill>
                  <a:srgbClr val="CC0000"/>
                </a:solidFill>
              </a:rPr>
              <a:t>continuous output</a:t>
            </a:r>
            <a:r>
              <a:rPr lang="en">
                <a:solidFill>
                  <a:srgbClr val="000000"/>
                </a:solidFill>
              </a:rPr>
              <a:t> (</a:t>
            </a:r>
            <a:r>
              <a:rPr lang="en" b="1">
                <a:solidFill>
                  <a:srgbClr val="000000"/>
                </a:solidFill>
              </a:rPr>
              <a:t>dependent variable</a:t>
            </a:r>
            <a:r>
              <a:rPr lang="en">
                <a:solidFill>
                  <a:srgbClr val="000000"/>
                </a:solidFill>
              </a:rPr>
              <a:t>) based on one or more </a:t>
            </a:r>
            <a:r>
              <a:rPr lang="en" b="1">
                <a:solidFill>
                  <a:srgbClr val="CC0000"/>
                </a:solidFill>
              </a:rPr>
              <a:t>input features</a:t>
            </a:r>
            <a:r>
              <a:rPr lang="en">
                <a:solidFill>
                  <a:srgbClr val="000000"/>
                </a:solidFill>
              </a:rPr>
              <a:t> (</a:t>
            </a:r>
            <a:r>
              <a:rPr lang="en" b="1">
                <a:solidFill>
                  <a:srgbClr val="000000"/>
                </a:solidFill>
              </a:rPr>
              <a:t>independent variables</a:t>
            </a:r>
            <a:r>
              <a:rPr lang="en">
                <a:solidFill>
                  <a:srgbClr val="000000"/>
                </a:solidFill>
              </a:rPr>
              <a:t>).</a:t>
            </a:r>
            <a:endParaRPr/>
          </a:p>
          <a:p>
            <a:pPr marL="0" lvl="0" indent="0" algn="l" rtl="0">
              <a:lnSpc>
                <a:spcPct val="130000"/>
              </a:lnSpc>
              <a:spcBef>
                <a:spcPts val="0"/>
              </a:spcBef>
              <a:spcAft>
                <a:spcPts val="0"/>
              </a:spcAft>
              <a:buSzPts val="1665"/>
              <a:buNone/>
            </a:pPr>
            <a:endParaRPr>
              <a:solidFill>
                <a:srgbClr val="000000"/>
              </a:solidFill>
            </a:endParaRPr>
          </a:p>
          <a:p>
            <a:pPr marL="0" lvl="0" indent="0" algn="l" rtl="0">
              <a:lnSpc>
                <a:spcPct val="130000"/>
              </a:lnSpc>
              <a:spcBef>
                <a:spcPts val="0"/>
              </a:spcBef>
              <a:spcAft>
                <a:spcPts val="0"/>
              </a:spcAft>
              <a:buSzPts val="1665"/>
              <a:buNone/>
            </a:pPr>
            <a:endParaRPr>
              <a:solidFill>
                <a:srgbClr val="000000"/>
              </a:solidFill>
            </a:endParaRPr>
          </a:p>
          <a:p>
            <a:pPr marL="0" lvl="0" indent="0" algn="l" rtl="0">
              <a:lnSpc>
                <a:spcPct val="130000"/>
              </a:lnSpc>
              <a:spcBef>
                <a:spcPts val="0"/>
              </a:spcBef>
              <a:spcAft>
                <a:spcPts val="0"/>
              </a:spcAft>
              <a:buSzPts val="1665"/>
              <a:buNone/>
            </a:pPr>
            <a:endParaRPr>
              <a:solidFill>
                <a:srgbClr val="000000"/>
              </a:solidFill>
            </a:endParaRPr>
          </a:p>
        </p:txBody>
      </p:sp>
      <p:sp>
        <p:nvSpPr>
          <p:cNvPr id="272" name="Google Shape;272;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19</a:t>
            </a:fld>
            <a:endParaRPr/>
          </a:p>
        </p:txBody>
      </p:sp>
      <p:pic>
        <p:nvPicPr>
          <p:cNvPr id="273" name="Google Shape;273;p35"/>
          <p:cNvPicPr preferRelativeResize="0"/>
          <p:nvPr/>
        </p:nvPicPr>
        <p:blipFill rotWithShape="1">
          <a:blip r:embed="rId3">
            <a:alphaModFix/>
          </a:blip>
          <a:srcRect t="15879"/>
          <a:stretch/>
        </p:blipFill>
        <p:spPr>
          <a:xfrm>
            <a:off x="4234649" y="1903188"/>
            <a:ext cx="4325687" cy="315362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000" b="1">
                <a:solidFill>
                  <a:srgbClr val="0C0C0C"/>
                </a:solidFill>
              </a:rPr>
              <a:t>Logistic Regression</a:t>
            </a:r>
            <a:br>
              <a:rPr lang="en" sz="3000" b="1">
                <a:solidFill>
                  <a:srgbClr val="0C0C0C"/>
                </a:solidFill>
              </a:rPr>
            </a:br>
            <a:endParaRPr sz="3000"/>
          </a:p>
        </p:txBody>
      </p:sp>
      <p:sp>
        <p:nvSpPr>
          <p:cNvPr id="279" name="Google Shape;279;p36"/>
          <p:cNvSpPr txBox="1">
            <a:spLocks noGrp="1"/>
          </p:cNvSpPr>
          <p:nvPr>
            <p:ph type="body" idx="1"/>
          </p:nvPr>
        </p:nvSpPr>
        <p:spPr>
          <a:xfrm>
            <a:off x="257325" y="1132275"/>
            <a:ext cx="8650800" cy="3924600"/>
          </a:xfrm>
          <a:prstGeom prst="rect">
            <a:avLst/>
          </a:prstGeom>
          <a:noFill/>
          <a:ln>
            <a:noFill/>
          </a:ln>
        </p:spPr>
        <p:txBody>
          <a:bodyPr spcFirstLastPara="1" wrap="square" lIns="91425" tIns="91425" rIns="91425" bIns="91425" anchor="t" anchorCtr="0">
            <a:normAutofit/>
          </a:bodyPr>
          <a:lstStyle/>
          <a:p>
            <a:pPr marL="122873" lvl="0" indent="0" algn="l" rtl="0">
              <a:lnSpc>
                <a:spcPct val="130000"/>
              </a:lnSpc>
              <a:spcBef>
                <a:spcPts val="0"/>
              </a:spcBef>
              <a:spcAft>
                <a:spcPts val="0"/>
              </a:spcAft>
              <a:buSzPts val="1665"/>
              <a:buNone/>
            </a:pPr>
            <a:r>
              <a:rPr lang="en">
                <a:solidFill>
                  <a:srgbClr val="000000"/>
                </a:solidFill>
              </a:rPr>
              <a:t>Logistic regression is a </a:t>
            </a:r>
            <a:r>
              <a:rPr lang="en" b="1">
                <a:solidFill>
                  <a:srgbClr val="FF0000"/>
                </a:solidFill>
              </a:rPr>
              <a:t>supervised</a:t>
            </a:r>
            <a:r>
              <a:rPr lang="en">
                <a:solidFill>
                  <a:srgbClr val="000000"/>
                </a:solidFill>
              </a:rPr>
              <a:t> machine learning algorithm that accomplishes </a:t>
            </a:r>
            <a:r>
              <a:rPr lang="en" b="1">
                <a:solidFill>
                  <a:srgbClr val="FF0000"/>
                </a:solidFill>
              </a:rPr>
              <a:t>binary classification </a:t>
            </a:r>
            <a:r>
              <a:rPr lang="en">
                <a:solidFill>
                  <a:srgbClr val="000000"/>
                </a:solidFill>
              </a:rPr>
              <a:t>tasks by predicting the probability of an outcome, event, or observation. </a:t>
            </a:r>
            <a:endParaRPr/>
          </a:p>
          <a:p>
            <a:pPr marL="457200" lvl="0" indent="-228599" algn="l" rtl="0">
              <a:lnSpc>
                <a:spcPct val="130000"/>
              </a:lnSpc>
              <a:spcBef>
                <a:spcPts val="0"/>
              </a:spcBef>
              <a:spcAft>
                <a:spcPts val="0"/>
              </a:spcAft>
              <a:buSzPts val="1665"/>
              <a:buNone/>
            </a:pPr>
            <a:endParaRPr/>
          </a:p>
        </p:txBody>
      </p:sp>
      <p:sp>
        <p:nvSpPr>
          <p:cNvPr id="280" name="Google Shape;280;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20</a:t>
            </a:fld>
            <a:endParaRPr/>
          </a:p>
        </p:txBody>
      </p:sp>
      <p:pic>
        <p:nvPicPr>
          <p:cNvPr id="281" name="Google Shape;281;p36"/>
          <p:cNvPicPr preferRelativeResize="0"/>
          <p:nvPr/>
        </p:nvPicPr>
        <p:blipFill rotWithShape="1">
          <a:blip r:embed="rId3">
            <a:alphaModFix/>
          </a:blip>
          <a:srcRect t="15186"/>
          <a:stretch/>
        </p:blipFill>
        <p:spPr>
          <a:xfrm>
            <a:off x="3719742" y="1953087"/>
            <a:ext cx="4858305" cy="2998802"/>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367</Words>
  <Application>Microsoft Office PowerPoint</Application>
  <PresentationFormat>On-screen Show (16:9)</PresentationFormat>
  <Paragraphs>66</Paragraphs>
  <Slides>20</Slides>
  <Notes>20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Simple Light</vt:lpstr>
      <vt:lpstr>Hope to Skills</vt:lpstr>
      <vt:lpstr>PowerPoint Presentation</vt:lpstr>
      <vt:lpstr>Agenda</vt:lpstr>
      <vt:lpstr>Data Science Processes - I</vt:lpstr>
      <vt:lpstr>Data Science Processes - II</vt:lpstr>
      <vt:lpstr>Data Science Processes - III</vt:lpstr>
      <vt:lpstr>Data Skewness:</vt:lpstr>
      <vt:lpstr>Distributions</vt:lpstr>
      <vt:lpstr>PowerPoint Presentation</vt:lpstr>
      <vt:lpstr>Data Transformation:</vt:lpstr>
      <vt:lpstr>Smoothing:</vt:lpstr>
      <vt:lpstr>Feature Engineering:</vt:lpstr>
      <vt:lpstr>Data Normalization:</vt:lpstr>
      <vt:lpstr>Scaling: </vt:lpstr>
      <vt:lpstr>Data Visualization Charts</vt:lpstr>
      <vt:lpstr>PowerPoint Presentation</vt:lpstr>
      <vt:lpstr>Model Building:</vt:lpstr>
      <vt:lpstr>Model Validation:</vt:lpstr>
      <vt:lpstr>Linear Regression</vt:lpstr>
      <vt:lpstr>Logistic Regression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Hope to Skills</dc:title>
  <dc:creator>Fatima</dc:creator>
  <cp:lastModifiedBy>Microsoft account</cp:lastModifiedBy>
  <cp:revision>5</cp:revision>
  <dcterms:modified xsi:type="dcterms:W3CDTF">2025-03-20T07:32:55Z</dcterms:modified>
</cp:coreProperties>
</file>