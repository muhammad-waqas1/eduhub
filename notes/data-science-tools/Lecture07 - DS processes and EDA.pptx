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92" r:id="rId16"/>
    <p:sldId id="293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8" r:id="rId34"/>
    <p:sldId id="289" r:id="rId35"/>
    <p:sldId id="290" r:id="rId36"/>
    <p:sldId id="291" r:id="rId3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2" roundtripDataSignature="AMtx7minzf9p0BJj6mz/RvbJLFj1dMSy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0" d="100"/>
          <a:sy n="130" d="100"/>
        </p:scale>
        <p:origin x="26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6439800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8992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4f3b0113b5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g24f3b0113b5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83168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e44a481ae3_0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g1e44a481ae3_0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0727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b49bba951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g2b49bba951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08128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b49bba951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g2b49bba951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94065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b49bba951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2b49bba951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58578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e44a481ae3_0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g1e44a481ae3_0_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69484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b49bba951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2b49bba951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22432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e44a481ae3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1e44a481ae3_0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39774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e44a481ae3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1e44a481ae3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55538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55464d117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255464d117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25984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69355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05136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55366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5723aa1fee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5723aa1fee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33012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94678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63921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6873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46578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47805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19958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74088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97765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51587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55613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30141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88107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136184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150153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75360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93206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40834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44830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237839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30673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bc40544f1a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bc40544f1a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8467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3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4327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Char char="●"/>
              <a:defRPr/>
            </a:lvl1pPr>
            <a:lvl2pPr marL="914400" lvl="1" indent="-31083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95"/>
              <a:buChar char="○"/>
              <a:defRPr/>
            </a:lvl2pPr>
            <a:lvl3pPr marL="1371600" lvl="2" indent="-31083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95"/>
              <a:buChar char="■"/>
              <a:defRPr/>
            </a:lvl3pPr>
            <a:lvl4pPr marL="1828800" lvl="3" indent="-31083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95"/>
              <a:buChar char="●"/>
              <a:defRPr/>
            </a:lvl4pPr>
            <a:lvl5pPr marL="2286000" lvl="4" indent="-31083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95"/>
              <a:buChar char="○"/>
              <a:defRPr/>
            </a:lvl5pPr>
            <a:lvl6pPr marL="2743200" lvl="5" indent="-31083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95"/>
              <a:buChar char="■"/>
              <a:defRPr/>
            </a:lvl6pPr>
            <a:lvl7pPr marL="3200400" lvl="6" indent="-31083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95"/>
              <a:buChar char="●"/>
              <a:defRPr/>
            </a:lvl7pPr>
            <a:lvl8pPr marL="3657600" lvl="7" indent="-31083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95"/>
              <a:buChar char="○"/>
              <a:defRPr/>
            </a:lvl8pPr>
            <a:lvl9pPr marL="4114800" lvl="8" indent="-31083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95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2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" name="Google Shape;31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2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2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3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7432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779" dirty="0" smtClean="0">
                <a:solidFill>
                  <a:schemeClr val="dk1"/>
                </a:solidFill>
              </a:rPr>
              <a:t>Slide credits:</a:t>
            </a:r>
            <a:endParaRPr sz="1779" dirty="0">
              <a:solidFill>
                <a:schemeClr val="dk1"/>
              </a:solidFill>
            </a:endParaRPr>
          </a:p>
          <a:p>
            <a:pPr marL="274320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779" dirty="0">
                <a:solidFill>
                  <a:schemeClr val="dk1"/>
                </a:solidFill>
              </a:rPr>
              <a:t>Irfan Malik, Dr. Sheraz Naseer </a:t>
            </a:r>
            <a:endParaRPr sz="1779" dirty="0">
              <a:solidFill>
                <a:schemeClr val="dk1"/>
              </a:solidFill>
            </a:endParaRPr>
          </a:p>
        </p:txBody>
      </p:sp>
      <p:pic>
        <p:nvPicPr>
          <p:cNvPr id="53" name="Google Shape;5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825" y="4478925"/>
            <a:ext cx="2021288" cy="44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6950" y="4160975"/>
            <a:ext cx="1330074" cy="916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4f3b0113b5_3_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/>
              <a:t>Agenda</a:t>
            </a:r>
            <a:endParaRPr sz="3020" b="1"/>
          </a:p>
        </p:txBody>
      </p:sp>
      <p:sp>
        <p:nvSpPr>
          <p:cNvPr id="60" name="Google Shape;60;g24f3b0113b5_3_5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Char char="●"/>
            </a:pPr>
            <a:r>
              <a:rPr lang="en">
                <a:solidFill>
                  <a:schemeClr val="dk1"/>
                </a:solidFill>
              </a:rPr>
              <a:t>Data Science</a:t>
            </a:r>
            <a:endParaRPr>
              <a:solidFill>
                <a:schemeClr val="dk1"/>
              </a:solidFill>
            </a:endParaRPr>
          </a:p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Char char="●"/>
            </a:pPr>
            <a:r>
              <a:rPr lang="en">
                <a:solidFill>
                  <a:schemeClr val="dk1"/>
                </a:solidFill>
              </a:rPr>
              <a:t>Data Science processes</a:t>
            </a:r>
            <a:endParaRPr>
              <a:solidFill>
                <a:schemeClr val="dk1"/>
              </a:solidFill>
            </a:endParaRPr>
          </a:p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Char char="●"/>
            </a:pPr>
            <a:r>
              <a:rPr lang="en">
                <a:solidFill>
                  <a:schemeClr val="dk1"/>
                </a:solidFill>
              </a:rPr>
              <a:t>Types of Data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1" name="Google Shape;61;g24f3b0113b5_3_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e44a481ae3_0_26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b="1"/>
              <a:t>Data Science</a:t>
            </a:r>
            <a:endParaRPr b="1"/>
          </a:p>
        </p:txBody>
      </p:sp>
      <p:sp>
        <p:nvSpPr>
          <p:cNvPr id="74" name="Google Shape;74;g1e44a481ae3_0_2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b49bba9510_0_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1"/>
              <a:buFont typeface="Arial"/>
              <a:buNone/>
            </a:pPr>
            <a:r>
              <a:rPr lang="en" sz="3000" b="1"/>
              <a:t>Data Science</a:t>
            </a:r>
            <a:endParaRPr sz="3000" b="1"/>
          </a:p>
        </p:txBody>
      </p:sp>
      <p:sp>
        <p:nvSpPr>
          <p:cNvPr id="80" name="Google Shape;80;g2b49bba9510_0_5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>
                <a:solidFill>
                  <a:schemeClr val="dk1"/>
                </a:solidFill>
              </a:rPr>
              <a:t>Data science is the field of </a:t>
            </a:r>
            <a:r>
              <a:rPr lang="en" b="1">
                <a:solidFill>
                  <a:srgbClr val="FF0000"/>
                </a:solidFill>
              </a:rPr>
              <a:t>extracting knowledge</a:t>
            </a:r>
            <a:r>
              <a:rPr lang="en">
                <a:solidFill>
                  <a:srgbClr val="FF0000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and insights from data through a blend of </a:t>
            </a:r>
            <a:r>
              <a:rPr lang="en" b="1">
                <a:solidFill>
                  <a:srgbClr val="FF0000"/>
                </a:solidFill>
              </a:rPr>
              <a:t>statistics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 b="1">
                <a:solidFill>
                  <a:srgbClr val="FF0000"/>
                </a:solidFill>
              </a:rPr>
              <a:t>programming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 b="1">
                <a:solidFill>
                  <a:srgbClr val="FF0000"/>
                </a:solidFill>
              </a:rPr>
              <a:t>machine learning</a:t>
            </a:r>
            <a:r>
              <a:rPr lang="en">
                <a:solidFill>
                  <a:schemeClr val="dk1"/>
                </a:solidFill>
              </a:rPr>
              <a:t>, and </a:t>
            </a:r>
            <a:r>
              <a:rPr lang="en" b="1">
                <a:solidFill>
                  <a:srgbClr val="FF0000"/>
                </a:solidFill>
              </a:rPr>
              <a:t>domain expertise</a:t>
            </a:r>
            <a:r>
              <a:rPr lang="en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1" name="Google Shape;81;g2b49bba9510_0_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2" name="Google Shape;82;g2b49bba9510_0_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95503" y="2108428"/>
            <a:ext cx="2687350" cy="268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b49bba9510_0_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1"/>
              <a:buFont typeface="Arial"/>
              <a:buNone/>
            </a:pPr>
            <a:r>
              <a:rPr lang="en" sz="3000" b="1"/>
              <a:t>Data Science Processes</a:t>
            </a:r>
            <a:endParaRPr sz="3000" b="1"/>
          </a:p>
        </p:txBody>
      </p:sp>
      <p:sp>
        <p:nvSpPr>
          <p:cNvPr id="88" name="Google Shape;88;g2b49bba9510_0_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9" name="Google Shape;89;g2b49bba9510_0_15"/>
          <p:cNvPicPr preferRelativeResize="0"/>
          <p:nvPr/>
        </p:nvPicPr>
        <p:blipFill rotWithShape="1">
          <a:blip r:embed="rId3">
            <a:alphaModFix/>
          </a:blip>
          <a:srcRect r="13517"/>
          <a:stretch/>
        </p:blipFill>
        <p:spPr>
          <a:xfrm>
            <a:off x="713800" y="1017725"/>
            <a:ext cx="7390474" cy="4039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b49bba9510_0_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b="1"/>
              <a:t>Types of Data </a:t>
            </a:r>
            <a:endParaRPr b="1"/>
          </a:p>
        </p:txBody>
      </p:sp>
      <p:sp>
        <p:nvSpPr>
          <p:cNvPr id="95" name="Google Shape;95;g2b49bba9510_0_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96" name="Google Shape;96;g2b49bba9510_0_0"/>
          <p:cNvSpPr txBox="1"/>
          <p:nvPr/>
        </p:nvSpPr>
        <p:spPr>
          <a:xfrm>
            <a:off x="311700" y="2986133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Types of Attribute</a:t>
            </a:r>
            <a:endParaRPr sz="36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e44a481ae3_0_26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1"/>
              <a:buFont typeface="Arial"/>
              <a:buNone/>
            </a:pPr>
            <a:r>
              <a:rPr lang="en" sz="3000" b="1"/>
              <a:t>Structured Data</a:t>
            </a:r>
            <a:endParaRPr sz="3000" b="1"/>
          </a:p>
        </p:txBody>
      </p:sp>
      <p:sp>
        <p:nvSpPr>
          <p:cNvPr id="102" name="Google Shape;102;g1e44a481ae3_0_266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4327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Char char="●"/>
            </a:pPr>
            <a:r>
              <a:rPr lang="en">
                <a:solidFill>
                  <a:schemeClr val="dk1"/>
                </a:solidFill>
              </a:rPr>
              <a:t>Structured data is organized and follows a </a:t>
            </a:r>
            <a:r>
              <a:rPr lang="en" b="1">
                <a:solidFill>
                  <a:srgbClr val="FF0000"/>
                </a:solidFill>
              </a:rPr>
              <a:t>predefined format</a:t>
            </a:r>
            <a:r>
              <a:rPr lang="en">
                <a:solidFill>
                  <a:schemeClr val="dk1"/>
                </a:solidFill>
              </a:rPr>
              <a:t>, usually stored in </a:t>
            </a:r>
            <a:r>
              <a:rPr lang="en" b="1">
                <a:solidFill>
                  <a:srgbClr val="FF0000"/>
                </a:solidFill>
              </a:rPr>
              <a:t>databases</a:t>
            </a:r>
            <a:r>
              <a:rPr lang="en">
                <a:solidFill>
                  <a:schemeClr val="dk1"/>
                </a:solidFill>
              </a:rPr>
              <a:t> or </a:t>
            </a:r>
            <a:r>
              <a:rPr lang="en" b="1">
                <a:solidFill>
                  <a:srgbClr val="FF0000"/>
                </a:solidFill>
              </a:rPr>
              <a:t>spreadsheets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457200" lvl="0" indent="-334327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Char char="●"/>
            </a:pPr>
            <a:r>
              <a:rPr lang="en" b="1">
                <a:solidFill>
                  <a:schemeClr val="dk1"/>
                </a:solidFill>
              </a:rPr>
              <a:t>Example: </a:t>
            </a:r>
            <a:r>
              <a:rPr lang="en">
                <a:solidFill>
                  <a:schemeClr val="dk1"/>
                </a:solidFill>
              </a:rPr>
              <a:t>A customer database with columns for name, age, email, and purchase history.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914400" lvl="1" indent="-336232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95"/>
              <a:buChar char="○"/>
            </a:pPr>
            <a:r>
              <a:rPr lang="en" sz="1800">
                <a:solidFill>
                  <a:schemeClr val="dk1"/>
                </a:solidFill>
              </a:rPr>
              <a:t>Ordinal data</a:t>
            </a:r>
            <a:endParaRPr sz="1800">
              <a:solidFill>
                <a:schemeClr val="dk1"/>
              </a:solidFill>
            </a:endParaRPr>
          </a:p>
          <a:p>
            <a:pPr marL="914400" lvl="1" indent="-336232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95"/>
              <a:buChar char="○"/>
            </a:pPr>
            <a:r>
              <a:rPr lang="en" sz="1800">
                <a:solidFill>
                  <a:schemeClr val="dk1"/>
                </a:solidFill>
              </a:rPr>
              <a:t>Nominal data</a:t>
            </a:r>
            <a:endParaRPr sz="1800">
              <a:solidFill>
                <a:schemeClr val="dk1"/>
              </a:solidFill>
            </a:endParaRPr>
          </a:p>
          <a:p>
            <a:pPr marL="914400" lvl="1" indent="-336232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95"/>
              <a:buChar char="○"/>
            </a:pPr>
            <a:r>
              <a:rPr lang="en" sz="1800">
                <a:solidFill>
                  <a:schemeClr val="dk1"/>
                </a:solidFill>
              </a:rPr>
              <a:t>Numerical data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3" name="Google Shape;103;g1e44a481ae3_0_2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b49bba9510_0_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1"/>
              <a:buFont typeface="Arial"/>
              <a:buNone/>
            </a:pPr>
            <a:r>
              <a:rPr lang="en" sz="3000" b="1"/>
              <a:t>Structured Data Examples</a:t>
            </a:r>
            <a:endParaRPr sz="3000" b="1"/>
          </a:p>
        </p:txBody>
      </p:sp>
      <p:sp>
        <p:nvSpPr>
          <p:cNvPr id="109" name="Google Shape;109;g2b49bba9510_0_24"/>
          <p:cNvSpPr txBox="1">
            <a:spLocks noGrp="1"/>
          </p:cNvSpPr>
          <p:nvPr>
            <p:ph type="body" idx="1"/>
          </p:nvPr>
        </p:nvSpPr>
        <p:spPr>
          <a:xfrm>
            <a:off x="154050" y="1017725"/>
            <a:ext cx="4564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Ordinal: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Movie ratings (1-5 stars)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T-shirt sizes (S, M, L)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School grades (A, B, C)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Nominal: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Blood types (A, B, AB, O)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Hair colors (blonde, brunette, redhead)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Favorite sports (soccer, basketball, tennis)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0" name="Google Shape;110;g2b49bba9510_0_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11" name="Google Shape;111;g2b49bba9510_0_24"/>
          <p:cNvSpPr txBox="1">
            <a:spLocks noGrp="1"/>
          </p:cNvSpPr>
          <p:nvPr>
            <p:ph type="body" idx="1"/>
          </p:nvPr>
        </p:nvSpPr>
        <p:spPr>
          <a:xfrm>
            <a:off x="4661525" y="1017725"/>
            <a:ext cx="40281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 b="1">
                <a:solidFill>
                  <a:schemeClr val="dk1"/>
                </a:solidFill>
              </a:rPr>
              <a:t>Numerical:</a:t>
            </a:r>
            <a:endParaRPr b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Ages (years)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Temperatures (°C)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Book page numbers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 b="1">
                <a:solidFill>
                  <a:schemeClr val="dk1"/>
                </a:solidFill>
              </a:rPr>
              <a:t>Bonus: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>
                <a:solidFill>
                  <a:schemeClr val="dk1"/>
                </a:solidFill>
              </a:rPr>
              <a:t>Traffic light colors (red, yellow, green) – nominal for each light, ordinal for sequence.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e44a481ae3_0_27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9819"/>
              <a:buNone/>
            </a:pPr>
            <a:r>
              <a:rPr lang="en" sz="3320" b="1"/>
              <a:t>Unstructured Data</a:t>
            </a:r>
            <a:endParaRPr sz="332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b="1"/>
          </a:p>
        </p:txBody>
      </p:sp>
      <p:sp>
        <p:nvSpPr>
          <p:cNvPr id="117" name="Google Shape;117;g1e44a481ae3_0_273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4327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Char char="●"/>
            </a:pPr>
            <a:r>
              <a:rPr lang="en">
                <a:solidFill>
                  <a:schemeClr val="dk1"/>
                </a:solidFill>
              </a:rPr>
              <a:t>Unstructured data is </a:t>
            </a:r>
            <a:r>
              <a:rPr lang="en" b="1">
                <a:solidFill>
                  <a:srgbClr val="FF0000"/>
                </a:solidFill>
              </a:rPr>
              <a:t>not organized</a:t>
            </a:r>
            <a:r>
              <a:rPr lang="en">
                <a:solidFill>
                  <a:srgbClr val="FF0000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and lacks a predefined format, often in the form of </a:t>
            </a:r>
            <a:r>
              <a:rPr lang="en" b="1">
                <a:solidFill>
                  <a:srgbClr val="FF0000"/>
                </a:solidFill>
              </a:rPr>
              <a:t>text,</a:t>
            </a:r>
            <a:r>
              <a:rPr lang="en">
                <a:solidFill>
                  <a:srgbClr val="FF0000"/>
                </a:solidFill>
              </a:rPr>
              <a:t> </a:t>
            </a:r>
            <a:r>
              <a:rPr lang="en" b="1">
                <a:solidFill>
                  <a:srgbClr val="FF0000"/>
                </a:solidFill>
              </a:rPr>
              <a:t>images, audio, or video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457200" lvl="0" indent="-334327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Char char="●"/>
            </a:pPr>
            <a:r>
              <a:rPr lang="en" b="1">
                <a:solidFill>
                  <a:schemeClr val="dk1"/>
                </a:solidFill>
              </a:rPr>
              <a:t>Example:</a:t>
            </a:r>
            <a:r>
              <a:rPr lang="en">
                <a:solidFill>
                  <a:schemeClr val="dk1"/>
                </a:solidFill>
              </a:rPr>
              <a:t> Social media posts, customer reviews, or images from a surveillance camera.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8" name="Google Shape;118;g1e44a481ae3_0_27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e44a481ae3_0_27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9819"/>
              <a:buNone/>
            </a:pPr>
            <a:r>
              <a:rPr lang="en" sz="3320" b="1"/>
              <a:t>Semi-Structured Data</a:t>
            </a:r>
            <a:endParaRPr sz="332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b="1"/>
          </a:p>
        </p:txBody>
      </p:sp>
      <p:sp>
        <p:nvSpPr>
          <p:cNvPr id="124" name="Google Shape;124;g1e44a481ae3_0_279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4327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Char char="●"/>
            </a:pPr>
            <a:r>
              <a:rPr lang="en">
                <a:solidFill>
                  <a:schemeClr val="dk1"/>
                </a:solidFill>
              </a:rPr>
              <a:t>Semi-structured data has some organization but does not adhere to a </a:t>
            </a:r>
            <a:r>
              <a:rPr lang="en" b="1">
                <a:solidFill>
                  <a:srgbClr val="FF0000"/>
                </a:solidFill>
              </a:rPr>
              <a:t>strict schema</a:t>
            </a:r>
            <a:r>
              <a:rPr lang="en">
                <a:solidFill>
                  <a:schemeClr val="dk1"/>
                </a:solidFill>
              </a:rPr>
              <a:t>, often </a:t>
            </a:r>
            <a:r>
              <a:rPr lang="en" b="1">
                <a:solidFill>
                  <a:srgbClr val="FF0000"/>
                </a:solidFill>
              </a:rPr>
              <a:t>containing tags</a:t>
            </a:r>
            <a:r>
              <a:rPr lang="en">
                <a:solidFill>
                  <a:srgbClr val="FF0000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or </a:t>
            </a:r>
            <a:r>
              <a:rPr lang="en" b="1">
                <a:solidFill>
                  <a:srgbClr val="FF0000"/>
                </a:solidFill>
              </a:rPr>
              <a:t>labels.</a:t>
            </a:r>
            <a:endParaRPr b="1">
              <a:solidFill>
                <a:srgbClr val="FF0000"/>
              </a:solidFill>
            </a:endParaRPr>
          </a:p>
          <a:p>
            <a:pPr marL="457200" lvl="0" indent="-334327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Char char="●"/>
            </a:pPr>
            <a:r>
              <a:rPr lang="en" b="1">
                <a:solidFill>
                  <a:schemeClr val="dk1"/>
                </a:solidFill>
              </a:rPr>
              <a:t>Example:</a:t>
            </a:r>
            <a:r>
              <a:rPr lang="en">
                <a:solidFill>
                  <a:schemeClr val="dk1"/>
                </a:solidFill>
              </a:rPr>
              <a:t> Emails, JSON files that contain data with tags or key-value pairs.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5" name="Google Shape;125;g1e44a481ae3_0_27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55464d117b_0_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131" name="Google Shape;131;g255464d117b_0_1"/>
          <p:cNvPicPr preferRelativeResize="0"/>
          <p:nvPr/>
        </p:nvPicPr>
        <p:blipFill rotWithShape="1">
          <a:blip r:embed="rId3">
            <a:alphaModFix/>
          </a:blip>
          <a:srcRect t="4161" b="2745"/>
          <a:stretch/>
        </p:blipFill>
        <p:spPr>
          <a:xfrm>
            <a:off x="366050" y="328225"/>
            <a:ext cx="8403827" cy="4599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 b="1"/>
              <a:t>Data Acquisition</a:t>
            </a:r>
            <a:endParaRPr sz="3000" b="1"/>
          </a:p>
        </p:txBody>
      </p:sp>
      <p:sp>
        <p:nvSpPr>
          <p:cNvPr id="137" name="Google Shape;137;p2"/>
          <p:cNvSpPr txBox="1">
            <a:spLocks noGrp="1"/>
          </p:cNvSpPr>
          <p:nvPr>
            <p:ph type="body" idx="1"/>
          </p:nvPr>
        </p:nvSpPr>
        <p:spPr>
          <a:xfrm>
            <a:off x="257325" y="1132274"/>
            <a:ext cx="8650800" cy="4011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34327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94736"/>
              <a:buChar char="●"/>
            </a:pPr>
            <a:r>
              <a:rPr lang="en" sz="1900" b="1">
                <a:solidFill>
                  <a:srgbClr val="0C0C0C"/>
                </a:solidFill>
              </a:rPr>
              <a:t>Data acquisition </a:t>
            </a:r>
            <a:r>
              <a:rPr lang="en" sz="1900">
                <a:solidFill>
                  <a:srgbClr val="0C0C0C"/>
                </a:solidFill>
              </a:rPr>
              <a:t>refers to the </a:t>
            </a:r>
            <a:r>
              <a:rPr lang="en" sz="1900" b="1">
                <a:solidFill>
                  <a:srgbClr val="FF0000"/>
                </a:solidFill>
              </a:rPr>
              <a:t>process of collecting raw data </a:t>
            </a:r>
            <a:r>
              <a:rPr lang="en" sz="1900">
                <a:solidFill>
                  <a:srgbClr val="0C0C0C"/>
                </a:solidFill>
              </a:rPr>
              <a:t>from various sources, which could be </a:t>
            </a:r>
            <a:r>
              <a:rPr lang="en" sz="1900" b="1">
                <a:solidFill>
                  <a:srgbClr val="FF0000"/>
                </a:solidFill>
              </a:rPr>
              <a:t>structured</a:t>
            </a:r>
            <a:r>
              <a:rPr lang="en" sz="1900">
                <a:solidFill>
                  <a:srgbClr val="C00000"/>
                </a:solidFill>
              </a:rPr>
              <a:t> </a:t>
            </a:r>
            <a:r>
              <a:rPr lang="en" sz="1900">
                <a:solidFill>
                  <a:srgbClr val="0C0C0C"/>
                </a:solidFill>
              </a:rPr>
              <a:t>or </a:t>
            </a:r>
            <a:r>
              <a:rPr lang="en" sz="1900" b="1">
                <a:solidFill>
                  <a:srgbClr val="FF0000"/>
                </a:solidFill>
              </a:rPr>
              <a:t>unstructured</a:t>
            </a:r>
            <a:r>
              <a:rPr lang="en" sz="1900">
                <a:solidFill>
                  <a:srgbClr val="0C0C0C"/>
                </a:solidFill>
              </a:rPr>
              <a:t>, to be used for analysis, modeling, or other purposes.</a:t>
            </a:r>
            <a:endParaRPr/>
          </a:p>
          <a:p>
            <a:pPr marL="457200" lvl="0" indent="-228599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94736"/>
              <a:buNone/>
            </a:pPr>
            <a:endParaRPr sz="1900" b="1"/>
          </a:p>
          <a:p>
            <a:pPr marL="457200" lvl="0" indent="-334327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94736"/>
              <a:buChar char="●"/>
            </a:pPr>
            <a:r>
              <a:rPr lang="en" sz="1900">
                <a:solidFill>
                  <a:srgbClr val="0C0C0C"/>
                </a:solidFill>
              </a:rPr>
              <a:t>Identify Data</a:t>
            </a:r>
            <a:endParaRPr/>
          </a:p>
          <a:p>
            <a:pPr marL="457200" lvl="0" indent="-334327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94736"/>
              <a:buChar char="●"/>
            </a:pPr>
            <a:r>
              <a:rPr lang="en" sz="1900">
                <a:solidFill>
                  <a:srgbClr val="0C0C0C"/>
                </a:solidFill>
              </a:rPr>
              <a:t>Retrieve Data</a:t>
            </a:r>
            <a:endParaRPr/>
          </a:p>
          <a:p>
            <a:pPr marL="457200" lvl="0" indent="-334327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94736"/>
              <a:buChar char="●"/>
            </a:pPr>
            <a:r>
              <a:rPr lang="en" sz="1900">
                <a:solidFill>
                  <a:srgbClr val="0C0C0C"/>
                </a:solidFill>
              </a:rPr>
              <a:t>Query Data</a:t>
            </a:r>
            <a:endParaRPr sz="1900">
              <a:solidFill>
                <a:srgbClr val="0C0C0C"/>
              </a:solidFill>
            </a:endParaRPr>
          </a:p>
          <a:p>
            <a:pPr marL="457200" lvl="0" indent="-228599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54545"/>
              <a:buNone/>
            </a:pPr>
            <a:endParaRPr sz="3300" b="1">
              <a:solidFill>
                <a:srgbClr val="0C0C0C"/>
              </a:solidFill>
            </a:endParaRPr>
          </a:p>
          <a:p>
            <a:pPr marL="122873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/>
            </a:r>
            <a:br>
              <a:rPr lang="en"/>
            </a:br>
            <a:r>
              <a:rPr lang="en"/>
              <a:t/>
            </a:r>
            <a:br>
              <a:rPr lang="en"/>
            </a:br>
            <a:endParaRPr b="1"/>
          </a:p>
        </p:txBody>
      </p:sp>
      <p:sp>
        <p:nvSpPr>
          <p:cNvPr id="138" name="Google Shape;13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139" name="Google Shape;13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32417" y="2173707"/>
            <a:ext cx="4340041" cy="2877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4276"/>
              <a:buNone/>
            </a:pPr>
            <a:r>
              <a:rPr lang="en" sz="3300" b="1"/>
              <a:t>What is Exploratory Data Analysis (EDA)?</a:t>
            </a:r>
            <a:r>
              <a:rPr lang="en"/>
              <a:t/>
            </a:r>
            <a:br>
              <a:rPr lang="en"/>
            </a:br>
            <a:r>
              <a:rPr lang="en"/>
              <a:t/>
            </a:r>
            <a:br>
              <a:rPr lang="en"/>
            </a:br>
            <a:endParaRPr/>
          </a:p>
        </p:txBody>
      </p:sp>
      <p:sp>
        <p:nvSpPr>
          <p:cNvPr id="145" name="Google Shape;145;p3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4327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Char char="●"/>
            </a:pPr>
            <a:r>
              <a:rPr lang="en">
                <a:solidFill>
                  <a:srgbClr val="0C0C0C"/>
                </a:solidFill>
              </a:rPr>
              <a:t>The process of </a:t>
            </a:r>
            <a:r>
              <a:rPr lang="en" b="1">
                <a:solidFill>
                  <a:srgbClr val="FF0000"/>
                </a:solidFill>
              </a:rPr>
              <a:t>exploring</a:t>
            </a:r>
            <a:r>
              <a:rPr lang="en">
                <a:solidFill>
                  <a:srgbClr val="FF0000"/>
                </a:solidFill>
              </a:rPr>
              <a:t> </a:t>
            </a:r>
            <a:r>
              <a:rPr lang="en">
                <a:solidFill>
                  <a:srgbClr val="0C0C0C"/>
                </a:solidFill>
              </a:rPr>
              <a:t>and </a:t>
            </a:r>
            <a:r>
              <a:rPr lang="en" b="1">
                <a:solidFill>
                  <a:srgbClr val="FF0000"/>
                </a:solidFill>
              </a:rPr>
              <a:t>summarizing</a:t>
            </a:r>
            <a:r>
              <a:rPr lang="en">
                <a:solidFill>
                  <a:srgbClr val="FF0000"/>
                </a:solidFill>
              </a:rPr>
              <a:t> </a:t>
            </a:r>
            <a:r>
              <a:rPr lang="en">
                <a:solidFill>
                  <a:srgbClr val="0C0C0C"/>
                </a:solidFill>
              </a:rPr>
              <a:t>the main characteristics of the data to uncover </a:t>
            </a:r>
            <a:r>
              <a:rPr lang="en" b="1">
                <a:solidFill>
                  <a:srgbClr val="FF0000"/>
                </a:solidFill>
              </a:rPr>
              <a:t>patterns</a:t>
            </a:r>
            <a:r>
              <a:rPr lang="en">
                <a:solidFill>
                  <a:srgbClr val="0C0C0C"/>
                </a:solidFill>
              </a:rPr>
              <a:t>, </a:t>
            </a:r>
            <a:r>
              <a:rPr lang="en" b="1">
                <a:solidFill>
                  <a:srgbClr val="FF0000"/>
                </a:solidFill>
              </a:rPr>
              <a:t>relationships</a:t>
            </a:r>
            <a:r>
              <a:rPr lang="en">
                <a:solidFill>
                  <a:srgbClr val="0C0C0C"/>
                </a:solidFill>
              </a:rPr>
              <a:t>, and </a:t>
            </a:r>
            <a:r>
              <a:rPr lang="en" b="1">
                <a:solidFill>
                  <a:srgbClr val="FF0000"/>
                </a:solidFill>
              </a:rPr>
              <a:t>trends</a:t>
            </a:r>
            <a:r>
              <a:rPr lang="en">
                <a:solidFill>
                  <a:srgbClr val="0C0C0C"/>
                </a:solidFill>
              </a:rPr>
              <a:t>. </a:t>
            </a:r>
            <a:endParaRPr>
              <a:solidFill>
                <a:srgbClr val="0C0C0C"/>
              </a:solidFill>
            </a:endParaRPr>
          </a:p>
          <a:p>
            <a:pPr marL="457200" lvl="0" indent="-334327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Char char="●"/>
            </a:pPr>
            <a:r>
              <a:rPr lang="en">
                <a:solidFill>
                  <a:srgbClr val="0C0C0C"/>
                </a:solidFill>
              </a:rPr>
              <a:t>It helps in formulating questions and making data-driven decisions.</a:t>
            </a:r>
            <a:endParaRPr>
              <a:solidFill>
                <a:srgbClr val="0C0C0C"/>
              </a:solidFill>
            </a:endParaRPr>
          </a:p>
          <a:p>
            <a:pPr marL="122873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/>
              <a:t/>
            </a:r>
            <a:br>
              <a:rPr lang="en"/>
            </a:br>
            <a:endParaRPr/>
          </a:p>
        </p:txBody>
      </p:sp>
      <p:sp>
        <p:nvSpPr>
          <p:cNvPr id="146" name="Google Shape;14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pic>
        <p:nvPicPr>
          <p:cNvPr id="147" name="Google Shape;147;p3"/>
          <p:cNvPicPr preferRelativeResize="0"/>
          <p:nvPr/>
        </p:nvPicPr>
        <p:blipFill rotWithShape="1">
          <a:blip r:embed="rId3">
            <a:alphaModFix/>
          </a:blip>
          <a:srcRect l="53356" t="29174" b="31576"/>
          <a:stretch/>
        </p:blipFill>
        <p:spPr>
          <a:xfrm>
            <a:off x="1688000" y="2367350"/>
            <a:ext cx="5309424" cy="2513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/>
              <a:t>Importance of EDA:</a:t>
            </a:r>
            <a:endParaRPr sz="3920" b="1"/>
          </a:p>
        </p:txBody>
      </p:sp>
      <p:sp>
        <p:nvSpPr>
          <p:cNvPr id="153" name="Google Shape;153;p4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34327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Char char="●"/>
            </a:pPr>
            <a:r>
              <a:rPr lang="en">
                <a:solidFill>
                  <a:schemeClr val="dk1"/>
                </a:solidFill>
              </a:rPr>
              <a:t>Provides an </a:t>
            </a:r>
            <a:r>
              <a:rPr lang="en" b="1">
                <a:solidFill>
                  <a:srgbClr val="CC0000"/>
                </a:solidFill>
              </a:rPr>
              <a:t>initial understanding </a:t>
            </a:r>
            <a:r>
              <a:rPr lang="en">
                <a:solidFill>
                  <a:schemeClr val="dk1"/>
                </a:solidFill>
              </a:rPr>
              <a:t>of the dataset.</a:t>
            </a:r>
            <a:endParaRPr>
              <a:solidFill>
                <a:schemeClr val="dk1"/>
              </a:solidFill>
            </a:endParaRPr>
          </a:p>
          <a:p>
            <a:pPr marL="457200" lvl="0" indent="-334327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Char char="●"/>
            </a:pPr>
            <a:r>
              <a:rPr lang="en">
                <a:solidFill>
                  <a:schemeClr val="dk1"/>
                </a:solidFill>
              </a:rPr>
              <a:t>Helps in identifying data </a:t>
            </a:r>
            <a:r>
              <a:rPr lang="en" b="1">
                <a:solidFill>
                  <a:srgbClr val="CC0000"/>
                </a:solidFill>
              </a:rPr>
              <a:t>quality issues</a:t>
            </a:r>
            <a:r>
              <a:rPr lang="en">
                <a:solidFill>
                  <a:schemeClr val="dk1"/>
                </a:solidFill>
              </a:rPr>
              <a:t>, such as </a:t>
            </a:r>
            <a:r>
              <a:rPr lang="en" b="1">
                <a:solidFill>
                  <a:srgbClr val="CC0000"/>
                </a:solidFill>
              </a:rPr>
              <a:t>missing values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 b="1">
                <a:solidFill>
                  <a:srgbClr val="CC0000"/>
                </a:solidFill>
              </a:rPr>
              <a:t>outliers</a:t>
            </a:r>
            <a:r>
              <a:rPr lang="en">
                <a:solidFill>
                  <a:schemeClr val="dk1"/>
                </a:solidFill>
              </a:rPr>
              <a:t>, and</a:t>
            </a:r>
            <a:r>
              <a:rPr lang="en" b="1">
                <a:solidFill>
                  <a:srgbClr val="CC0000"/>
                </a:solidFill>
              </a:rPr>
              <a:t> inconsistencies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457200" lvl="0" indent="-334327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Char char="●"/>
            </a:pPr>
            <a:r>
              <a:rPr lang="en">
                <a:solidFill>
                  <a:schemeClr val="dk1"/>
                </a:solidFill>
              </a:rPr>
              <a:t>Guides the selection of appropriate statistical techniques and</a:t>
            </a:r>
            <a:r>
              <a:rPr lang="en" b="1">
                <a:solidFill>
                  <a:srgbClr val="CC0000"/>
                </a:solidFill>
              </a:rPr>
              <a:t> models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457200" lvl="0" indent="-334327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Char char="●"/>
            </a:pPr>
            <a:r>
              <a:rPr lang="en">
                <a:solidFill>
                  <a:schemeClr val="dk1"/>
                </a:solidFill>
              </a:rPr>
              <a:t>Helps in feature engineering and </a:t>
            </a:r>
            <a:r>
              <a:rPr lang="en" b="1">
                <a:solidFill>
                  <a:srgbClr val="CC0000"/>
                </a:solidFill>
              </a:rPr>
              <a:t>variable selection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457200" lvl="0" indent="-334327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Char char="●"/>
            </a:pPr>
            <a:r>
              <a:rPr lang="en">
                <a:solidFill>
                  <a:schemeClr val="dk1"/>
                </a:solidFill>
              </a:rPr>
              <a:t>Enables the discovery of </a:t>
            </a:r>
            <a:r>
              <a:rPr lang="en" b="1">
                <a:solidFill>
                  <a:srgbClr val="CC0000"/>
                </a:solidFill>
              </a:rPr>
              <a:t>meaningful insights</a:t>
            </a:r>
            <a:r>
              <a:rPr lang="en">
                <a:solidFill>
                  <a:schemeClr val="dk1"/>
                </a:solidFill>
              </a:rPr>
              <a:t> and actionable conclusions.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4" name="Google Shape;15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5723aa1fee_0_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/>
              <a:t>Steps in EDA</a:t>
            </a:r>
            <a:endParaRPr sz="3020" b="1"/>
          </a:p>
        </p:txBody>
      </p:sp>
      <p:sp>
        <p:nvSpPr>
          <p:cNvPr id="85" name="Google Shape;85;g25723aa1fee_0_43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AutoNum type="arabicPeriod"/>
            </a:pPr>
            <a:r>
              <a:rPr lang="en">
                <a:solidFill>
                  <a:schemeClr val="dk1"/>
                </a:solidFill>
              </a:rPr>
              <a:t>Data Cleaning</a:t>
            </a:r>
            <a:endParaRPr>
              <a:solidFill>
                <a:schemeClr val="dk1"/>
              </a:solidFill>
            </a:endParaRPr>
          </a:p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AutoNum type="arabicPeriod"/>
            </a:pPr>
            <a:r>
              <a:rPr lang="en">
                <a:solidFill>
                  <a:schemeClr val="dk1"/>
                </a:solidFill>
              </a:rPr>
              <a:t>Descriptive Statistics</a:t>
            </a:r>
            <a:endParaRPr>
              <a:solidFill>
                <a:schemeClr val="dk1"/>
              </a:solidFill>
            </a:endParaRPr>
          </a:p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AutoNum type="arabicPeriod"/>
            </a:pPr>
            <a:r>
              <a:rPr lang="en">
                <a:solidFill>
                  <a:schemeClr val="dk1"/>
                </a:solidFill>
              </a:rPr>
              <a:t>Data Visualization</a:t>
            </a:r>
            <a:endParaRPr>
              <a:solidFill>
                <a:schemeClr val="dk1"/>
              </a:solidFill>
            </a:endParaRPr>
          </a:p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AutoNum type="arabicPeriod"/>
            </a:pPr>
            <a:r>
              <a:rPr lang="en">
                <a:solidFill>
                  <a:schemeClr val="dk1"/>
                </a:solidFill>
              </a:rPr>
              <a:t>Data Distribution</a:t>
            </a:r>
            <a:endParaRPr>
              <a:solidFill>
                <a:schemeClr val="dk1"/>
              </a:solidFill>
            </a:endParaRPr>
          </a:p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AutoNum type="arabicPeriod"/>
            </a:pPr>
            <a:r>
              <a:rPr lang="en">
                <a:solidFill>
                  <a:schemeClr val="dk1"/>
                </a:solidFill>
              </a:rPr>
              <a:t>Correlation Analysis</a:t>
            </a:r>
            <a:endParaRPr>
              <a:solidFill>
                <a:schemeClr val="dk1"/>
              </a:solidFill>
            </a:endParaRPr>
          </a:p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AutoNum type="arabicPeriod"/>
            </a:pPr>
            <a:r>
              <a:rPr lang="en">
                <a:solidFill>
                  <a:schemeClr val="dk1"/>
                </a:solidFill>
              </a:rPr>
              <a:t>Outlier Detection</a:t>
            </a:r>
            <a:endParaRPr>
              <a:solidFill>
                <a:schemeClr val="dk1"/>
              </a:solidFill>
            </a:endParaRPr>
          </a:p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AutoNum type="arabicPeriod"/>
            </a:pPr>
            <a:r>
              <a:rPr lang="en">
                <a:solidFill>
                  <a:schemeClr val="dk1"/>
                </a:solidFill>
              </a:rPr>
              <a:t>Data Transformation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6" name="Google Shape;86;g25723aa1fee_0_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9456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/>
              <a:t>Data Cleaning Techniques</a:t>
            </a:r>
            <a:endParaRPr sz="3020" b="1"/>
          </a:p>
        </p:txBody>
      </p:sp>
      <p:sp>
        <p:nvSpPr>
          <p:cNvPr id="276" name="Google Shape;276;p33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 b="1">
                <a:solidFill>
                  <a:schemeClr val="dk1"/>
                </a:solidFill>
              </a:rPr>
              <a:t>Handling Missing Data: </a:t>
            </a:r>
            <a:r>
              <a:rPr lang="en">
                <a:solidFill>
                  <a:schemeClr val="dk1"/>
                </a:solidFill>
              </a:rPr>
              <a:t>We use methods like filling or removing to deal with missing values.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 b="1">
                <a:solidFill>
                  <a:schemeClr val="dk1"/>
                </a:solidFill>
              </a:rPr>
              <a:t>Outlier Detection:</a:t>
            </a:r>
            <a:r>
              <a:rPr lang="en">
                <a:solidFill>
                  <a:schemeClr val="dk1"/>
                </a:solidFill>
              </a:rPr>
              <a:t> Find and address unusual data that can affect analysis or models.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 b="1">
                <a:solidFill>
                  <a:schemeClr val="dk1"/>
                </a:solidFill>
              </a:rPr>
              <a:t>Data Standardization: </a:t>
            </a:r>
            <a:r>
              <a:rPr lang="en">
                <a:solidFill>
                  <a:schemeClr val="dk1"/>
                </a:solidFill>
              </a:rPr>
              <a:t>Make data consistent for easier analysis and comparison.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 b="1">
                <a:solidFill>
                  <a:schemeClr val="dk1"/>
                </a:solidFill>
              </a:rPr>
              <a:t>Data Validation: </a:t>
            </a:r>
            <a:r>
              <a:rPr lang="en">
                <a:solidFill>
                  <a:schemeClr val="dk1"/>
                </a:solidFill>
              </a:rPr>
              <a:t>Check data against rules to ensure accuracy and reliability.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7" name="Google Shape;277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6377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/>
              <a:t>Descriptive Statistics</a:t>
            </a:r>
            <a:endParaRPr sz="3020" b="1"/>
          </a:p>
        </p:txBody>
      </p:sp>
      <p:sp>
        <p:nvSpPr>
          <p:cNvPr id="160" name="Google Shape;160;p5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>
                <a:solidFill>
                  <a:schemeClr val="dk1"/>
                </a:solidFill>
              </a:rPr>
              <a:t>Descriptive statistics is the branch of statistics that focuses on </a:t>
            </a:r>
            <a:r>
              <a:rPr lang="en" b="1">
                <a:solidFill>
                  <a:srgbClr val="FF0000"/>
                </a:solidFill>
              </a:rPr>
              <a:t>summarizing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 b="1">
                <a:solidFill>
                  <a:srgbClr val="FF0000"/>
                </a:solidFill>
              </a:rPr>
              <a:t>describing</a:t>
            </a:r>
            <a:r>
              <a:rPr lang="en">
                <a:solidFill>
                  <a:schemeClr val="dk1"/>
                </a:solidFill>
              </a:rPr>
              <a:t> the main </a:t>
            </a:r>
            <a:r>
              <a:rPr lang="en" b="1">
                <a:solidFill>
                  <a:srgbClr val="FF0000"/>
                </a:solidFill>
              </a:rPr>
              <a:t>features/Attributes/Variables</a:t>
            </a:r>
            <a:r>
              <a:rPr lang="en">
                <a:solidFill>
                  <a:schemeClr val="dk1"/>
                </a:solidFill>
              </a:rPr>
              <a:t> of a dataset.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1" name="Google Shape;16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/>
              <a:t>Correlation Analysis</a:t>
            </a:r>
            <a:endParaRPr sz="3020" b="1"/>
          </a:p>
        </p:txBody>
      </p:sp>
      <p:sp>
        <p:nvSpPr>
          <p:cNvPr id="167" name="Google Shape;167;p6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>
                <a:solidFill>
                  <a:schemeClr val="dk1"/>
                </a:solidFill>
              </a:rPr>
              <a:t>Correlation analysis is used to determine the </a:t>
            </a:r>
            <a:r>
              <a:rPr lang="en" b="1">
                <a:solidFill>
                  <a:srgbClr val="FF0000"/>
                </a:solidFill>
              </a:rPr>
              <a:t>relationshi</a:t>
            </a:r>
            <a:r>
              <a:rPr lang="en" b="1">
                <a:solidFill>
                  <a:srgbClr val="CC0000"/>
                </a:solidFill>
              </a:rPr>
              <a:t>p</a:t>
            </a:r>
            <a:r>
              <a:rPr lang="en">
                <a:solidFill>
                  <a:schemeClr val="dk1"/>
                </a:solidFill>
              </a:rPr>
              <a:t> between</a:t>
            </a:r>
            <a:r>
              <a:rPr lang="en" b="1">
                <a:solidFill>
                  <a:srgbClr val="CC0000"/>
                </a:solidFill>
              </a:rPr>
              <a:t> </a:t>
            </a:r>
            <a:r>
              <a:rPr lang="en" b="1">
                <a:solidFill>
                  <a:srgbClr val="FF0000"/>
                </a:solidFill>
              </a:rPr>
              <a:t>two</a:t>
            </a:r>
            <a:r>
              <a:rPr lang="en">
                <a:solidFill>
                  <a:schemeClr val="dk1"/>
                </a:solidFill>
              </a:rPr>
              <a:t> or </a:t>
            </a:r>
            <a:r>
              <a:rPr lang="en" b="1">
                <a:solidFill>
                  <a:srgbClr val="FF0000"/>
                </a:solidFill>
              </a:rPr>
              <a:t>more</a:t>
            </a:r>
            <a:r>
              <a:rPr lang="en">
                <a:solidFill>
                  <a:srgbClr val="FF0000"/>
                </a:solidFill>
              </a:rPr>
              <a:t> </a:t>
            </a:r>
            <a:r>
              <a:rPr lang="en" b="1">
                <a:solidFill>
                  <a:srgbClr val="FF0000"/>
                </a:solidFill>
              </a:rPr>
              <a:t>variables</a:t>
            </a:r>
            <a:r>
              <a:rPr lang="en" b="1">
                <a:solidFill>
                  <a:srgbClr val="CC0000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in a dataset. It helps us understand how </a:t>
            </a:r>
            <a:r>
              <a:rPr lang="en" b="1">
                <a:solidFill>
                  <a:srgbClr val="FF0000"/>
                </a:solidFill>
              </a:rPr>
              <a:t>changes</a:t>
            </a:r>
            <a:r>
              <a:rPr lang="en">
                <a:solidFill>
                  <a:schemeClr val="dk1"/>
                </a:solidFill>
              </a:rPr>
              <a:t> in one variable </a:t>
            </a:r>
            <a:r>
              <a:rPr lang="en" b="1">
                <a:solidFill>
                  <a:srgbClr val="FF0000"/>
                </a:solidFill>
              </a:rPr>
              <a:t>affect</a:t>
            </a:r>
            <a:r>
              <a:rPr lang="en">
                <a:solidFill>
                  <a:srgbClr val="FF0000"/>
                </a:solidFill>
              </a:rPr>
              <a:t> </a:t>
            </a:r>
            <a:r>
              <a:rPr lang="en" b="1">
                <a:solidFill>
                  <a:srgbClr val="FF0000"/>
                </a:solidFill>
              </a:rPr>
              <a:t>another variable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8" name="Google Shape;16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pic>
        <p:nvPicPr>
          <p:cNvPr id="169" name="Google Shape;169;p6"/>
          <p:cNvPicPr preferRelativeResize="0"/>
          <p:nvPr/>
        </p:nvPicPr>
        <p:blipFill rotWithShape="1">
          <a:blip r:embed="rId3">
            <a:alphaModFix/>
          </a:blip>
          <a:srcRect r="7148" b="7148"/>
          <a:stretch/>
        </p:blipFill>
        <p:spPr>
          <a:xfrm>
            <a:off x="1772346" y="2336229"/>
            <a:ext cx="6587079" cy="2521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/>
              <a:t>Outliers</a:t>
            </a:r>
            <a:endParaRPr sz="3020" b="1"/>
          </a:p>
        </p:txBody>
      </p:sp>
      <p:sp>
        <p:nvSpPr>
          <p:cNvPr id="175" name="Google Shape;17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pic>
        <p:nvPicPr>
          <p:cNvPr id="176" name="Google Shape;17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4950" y="1185863"/>
            <a:ext cx="5734050" cy="380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 b="1"/>
              <a:t>Central Tendency</a:t>
            </a:r>
            <a:br>
              <a:rPr lang="en" sz="3000" b="1"/>
            </a:br>
            <a:endParaRPr sz="3000" b="1"/>
          </a:p>
        </p:txBody>
      </p:sp>
      <p:sp>
        <p:nvSpPr>
          <p:cNvPr id="182" name="Google Shape;182;p8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4327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Char char="●"/>
            </a:pPr>
            <a:r>
              <a:rPr lang="en">
                <a:solidFill>
                  <a:srgbClr val="0C0C0C"/>
                </a:solidFill>
              </a:rPr>
              <a:t>A measure of </a:t>
            </a:r>
            <a:r>
              <a:rPr lang="en" b="1">
                <a:solidFill>
                  <a:srgbClr val="FF0000"/>
                </a:solidFill>
              </a:rPr>
              <a:t>central tendency </a:t>
            </a:r>
            <a:r>
              <a:rPr lang="en">
                <a:solidFill>
                  <a:srgbClr val="0C0C0C"/>
                </a:solidFill>
              </a:rPr>
              <a:t>is a single value that attempts to </a:t>
            </a:r>
            <a:r>
              <a:rPr lang="en" b="1">
                <a:solidFill>
                  <a:srgbClr val="FF0000"/>
                </a:solidFill>
              </a:rPr>
              <a:t>describe</a:t>
            </a:r>
            <a:r>
              <a:rPr lang="en">
                <a:solidFill>
                  <a:srgbClr val="0C0C0C"/>
                </a:solidFill>
              </a:rPr>
              <a:t> a set of data by </a:t>
            </a:r>
            <a:r>
              <a:rPr lang="en" b="1">
                <a:solidFill>
                  <a:srgbClr val="FF0000"/>
                </a:solidFill>
              </a:rPr>
              <a:t>identifying the central position </a:t>
            </a:r>
            <a:r>
              <a:rPr lang="en">
                <a:solidFill>
                  <a:srgbClr val="0C0C0C"/>
                </a:solidFill>
              </a:rPr>
              <a:t>within that set of data. As such, measures of central tendency are sometimes called measures of central location. </a:t>
            </a:r>
            <a:endParaRPr/>
          </a:p>
          <a:p>
            <a:pPr marL="457200" lvl="0" indent="-334327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Char char="●"/>
            </a:pPr>
            <a:r>
              <a:rPr lang="en">
                <a:solidFill>
                  <a:srgbClr val="0C0C0C"/>
                </a:solidFill>
              </a:rPr>
              <a:t>The </a:t>
            </a:r>
            <a:r>
              <a:rPr lang="en" b="1">
                <a:solidFill>
                  <a:srgbClr val="FF0000"/>
                </a:solidFill>
              </a:rPr>
              <a:t>mean</a:t>
            </a:r>
            <a:r>
              <a:rPr lang="en">
                <a:solidFill>
                  <a:srgbClr val="0C0C0C"/>
                </a:solidFill>
              </a:rPr>
              <a:t>, </a:t>
            </a:r>
            <a:r>
              <a:rPr lang="en" b="1">
                <a:solidFill>
                  <a:srgbClr val="FF0000"/>
                </a:solidFill>
              </a:rPr>
              <a:t>median</a:t>
            </a:r>
            <a:r>
              <a:rPr lang="en">
                <a:solidFill>
                  <a:srgbClr val="0C0C0C"/>
                </a:solidFill>
              </a:rPr>
              <a:t> and </a:t>
            </a:r>
            <a:r>
              <a:rPr lang="en" b="1">
                <a:solidFill>
                  <a:srgbClr val="FF0000"/>
                </a:solidFill>
              </a:rPr>
              <a:t>mode</a:t>
            </a:r>
            <a:r>
              <a:rPr lang="en">
                <a:solidFill>
                  <a:srgbClr val="0C0C0C"/>
                </a:solidFill>
              </a:rPr>
              <a:t> are all valid measures of </a:t>
            </a:r>
            <a:r>
              <a:rPr lang="en" b="1">
                <a:solidFill>
                  <a:srgbClr val="FF0000"/>
                </a:solidFill>
              </a:rPr>
              <a:t>central tendency</a:t>
            </a:r>
            <a:r>
              <a:rPr lang="en">
                <a:solidFill>
                  <a:srgbClr val="0C0C0C"/>
                </a:solidFill>
              </a:rPr>
              <a:t>, but under different conditions, some measures of central tendency become more appropriate to use than others. </a:t>
            </a:r>
            <a:endParaRPr>
              <a:solidFill>
                <a:srgbClr val="0C0C0C"/>
              </a:solidFill>
            </a:endParaRPr>
          </a:p>
        </p:txBody>
      </p:sp>
      <p:sp>
        <p:nvSpPr>
          <p:cNvPr id="183" name="Google Shape;18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/>
              <a:t>Mean</a:t>
            </a:r>
            <a:endParaRPr sz="3020" b="1"/>
          </a:p>
        </p:txBody>
      </p:sp>
      <p:sp>
        <p:nvSpPr>
          <p:cNvPr id="189" name="Google Shape;189;p9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>
                <a:solidFill>
                  <a:schemeClr val="dk1"/>
                </a:solidFill>
              </a:rPr>
              <a:t>The mean is the </a:t>
            </a:r>
            <a:r>
              <a:rPr lang="en" b="1">
                <a:solidFill>
                  <a:srgbClr val="FF0000"/>
                </a:solidFill>
              </a:rPr>
              <a:t>average</a:t>
            </a:r>
            <a:r>
              <a:rPr lang="en">
                <a:solidFill>
                  <a:srgbClr val="FF0000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of a set of numbers.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>
                <a:solidFill>
                  <a:schemeClr val="dk1"/>
                </a:solidFill>
              </a:rPr>
              <a:t>Calculated by summing all the numbers in the dataset and dividing by the total count.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 b="1">
                <a:solidFill>
                  <a:schemeClr val="dk1"/>
                </a:solidFill>
              </a:rPr>
              <a:t>Formula:</a:t>
            </a:r>
            <a:r>
              <a:rPr lang="en">
                <a:solidFill>
                  <a:schemeClr val="dk1"/>
                </a:solidFill>
              </a:rPr>
              <a:t> Mean = (Sum of all numbers) / (Total count)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 b="1">
                <a:solidFill>
                  <a:schemeClr val="dk1"/>
                </a:solidFill>
              </a:rPr>
              <a:t>Example:</a:t>
            </a:r>
            <a:r>
              <a:rPr lang="en">
                <a:solidFill>
                  <a:schemeClr val="dk1"/>
                </a:solidFill>
              </a:rPr>
              <a:t> For the dataset </a:t>
            </a:r>
            <a:r>
              <a:rPr lang="en" b="1">
                <a:solidFill>
                  <a:schemeClr val="dk1"/>
                </a:solidFill>
              </a:rPr>
              <a:t>[5, 7, 10, 12, 15],</a:t>
            </a:r>
            <a:r>
              <a:rPr lang="en">
                <a:solidFill>
                  <a:schemeClr val="dk1"/>
                </a:solidFill>
              </a:rPr>
              <a:t> the mean is </a:t>
            </a:r>
            <a:r>
              <a:rPr lang="en" b="1">
                <a:solidFill>
                  <a:schemeClr val="dk1"/>
                </a:solidFill>
              </a:rPr>
              <a:t>(5 + 7 + 10 + 12 + 15) / 5 = 9.8.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 b="1">
                <a:solidFill>
                  <a:schemeClr val="dk1"/>
                </a:solidFill>
              </a:rPr>
              <a:t>Sensitive to outliers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Example:</a:t>
            </a:r>
            <a:r>
              <a:rPr lang="en">
                <a:solidFill>
                  <a:schemeClr val="dk1"/>
                </a:solidFill>
              </a:rPr>
              <a:t> For the dataset </a:t>
            </a:r>
            <a:r>
              <a:rPr lang="en" b="1">
                <a:solidFill>
                  <a:schemeClr val="dk1"/>
                </a:solidFill>
              </a:rPr>
              <a:t>[5, 7, 10, 12, 150],</a:t>
            </a:r>
            <a:r>
              <a:rPr lang="en">
                <a:solidFill>
                  <a:schemeClr val="dk1"/>
                </a:solidFill>
              </a:rPr>
              <a:t> the mean is </a:t>
            </a:r>
            <a:r>
              <a:rPr lang="en" b="1">
                <a:solidFill>
                  <a:schemeClr val="dk1"/>
                </a:solidFill>
              </a:rPr>
              <a:t>(5 + 7 + 10 + 12 + 150) / 5 = 36.8.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90" name="Google Shape;19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/>
              <a:t>Median</a:t>
            </a:r>
            <a:endParaRPr sz="3020" b="1"/>
          </a:p>
        </p:txBody>
      </p:sp>
      <p:sp>
        <p:nvSpPr>
          <p:cNvPr id="196" name="Google Shape;196;p10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>
                <a:solidFill>
                  <a:schemeClr val="dk1"/>
                </a:solidFill>
              </a:rPr>
              <a:t>The median is the </a:t>
            </a:r>
            <a:r>
              <a:rPr lang="en" b="1">
                <a:solidFill>
                  <a:srgbClr val="FF0000"/>
                </a:solidFill>
              </a:rPr>
              <a:t>middle value</a:t>
            </a:r>
            <a:r>
              <a:rPr lang="en">
                <a:solidFill>
                  <a:srgbClr val="FF0000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in a </a:t>
            </a:r>
            <a:r>
              <a:rPr lang="en" b="1">
                <a:solidFill>
                  <a:srgbClr val="FF0000"/>
                </a:solidFill>
              </a:rPr>
              <a:t>sorted</a:t>
            </a:r>
            <a:r>
              <a:rPr lang="en" b="1">
                <a:solidFill>
                  <a:srgbClr val="CC0000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dataset.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>
                <a:solidFill>
                  <a:schemeClr val="dk1"/>
                </a:solidFill>
              </a:rPr>
              <a:t>If the dataset has an odd number of values, the median is the middle number.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>
                <a:solidFill>
                  <a:schemeClr val="dk1"/>
                </a:solidFill>
              </a:rPr>
              <a:t>If the dataset has an even number of values, the median is the average of the two middle numbers.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 b="1">
                <a:solidFill>
                  <a:schemeClr val="dk1"/>
                </a:solidFill>
              </a:rPr>
              <a:t>Example 1:</a:t>
            </a:r>
            <a:r>
              <a:rPr lang="en">
                <a:solidFill>
                  <a:schemeClr val="dk1"/>
                </a:solidFill>
              </a:rPr>
              <a:t> For the dataset </a:t>
            </a:r>
            <a:r>
              <a:rPr lang="en" b="1">
                <a:solidFill>
                  <a:schemeClr val="dk1"/>
                </a:solidFill>
              </a:rPr>
              <a:t>[3, 5, 6, 8, 9]</a:t>
            </a:r>
            <a:r>
              <a:rPr lang="en">
                <a:solidFill>
                  <a:schemeClr val="dk1"/>
                </a:solidFill>
              </a:rPr>
              <a:t>, the median is </a:t>
            </a:r>
            <a:r>
              <a:rPr lang="en" b="1">
                <a:solidFill>
                  <a:schemeClr val="dk1"/>
                </a:solidFill>
              </a:rPr>
              <a:t>6.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 b="1">
                <a:solidFill>
                  <a:schemeClr val="dk1"/>
                </a:solidFill>
              </a:rPr>
              <a:t>Example 2:</a:t>
            </a:r>
            <a:r>
              <a:rPr lang="en">
                <a:solidFill>
                  <a:schemeClr val="dk1"/>
                </a:solidFill>
              </a:rPr>
              <a:t> For the dataset </a:t>
            </a:r>
            <a:r>
              <a:rPr lang="en" b="1">
                <a:solidFill>
                  <a:schemeClr val="dk1"/>
                </a:solidFill>
              </a:rPr>
              <a:t>[2, 4, 6, 8]</a:t>
            </a:r>
            <a:r>
              <a:rPr lang="en">
                <a:solidFill>
                  <a:schemeClr val="dk1"/>
                </a:solidFill>
              </a:rPr>
              <a:t>, the median is </a:t>
            </a:r>
            <a:r>
              <a:rPr lang="en" b="1">
                <a:solidFill>
                  <a:schemeClr val="dk1"/>
                </a:solidFill>
              </a:rPr>
              <a:t>(4 + 6) / 2 = 5.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97" name="Google Shape;19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/>
              <a:t>Mode</a:t>
            </a:r>
            <a:endParaRPr sz="3020" b="1"/>
          </a:p>
        </p:txBody>
      </p:sp>
      <p:sp>
        <p:nvSpPr>
          <p:cNvPr id="203" name="Google Shape;203;p11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>
                <a:solidFill>
                  <a:schemeClr val="dk1"/>
                </a:solidFill>
              </a:rPr>
              <a:t>The mode is the value that appears </a:t>
            </a:r>
            <a:r>
              <a:rPr lang="en" b="1">
                <a:solidFill>
                  <a:srgbClr val="CC0000"/>
                </a:solidFill>
              </a:rPr>
              <a:t>most frequently</a:t>
            </a:r>
            <a:r>
              <a:rPr lang="en">
                <a:solidFill>
                  <a:schemeClr val="dk1"/>
                </a:solidFill>
              </a:rPr>
              <a:t> in a dataset.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>
                <a:solidFill>
                  <a:schemeClr val="dk1"/>
                </a:solidFill>
              </a:rPr>
              <a:t>A dataset can have one mode, more than one mode (multimodal), or no mode (no value repeats).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 b="1">
                <a:solidFill>
                  <a:schemeClr val="dk1"/>
                </a:solidFill>
              </a:rPr>
              <a:t>Example 1:</a:t>
            </a:r>
            <a:r>
              <a:rPr lang="en">
                <a:solidFill>
                  <a:schemeClr val="dk1"/>
                </a:solidFill>
              </a:rPr>
              <a:t> For the dataset </a:t>
            </a:r>
            <a:r>
              <a:rPr lang="en" b="1">
                <a:solidFill>
                  <a:schemeClr val="dk1"/>
                </a:solidFill>
              </a:rPr>
              <a:t>[3, 4, 4, 6, 8]</a:t>
            </a:r>
            <a:r>
              <a:rPr lang="en">
                <a:solidFill>
                  <a:schemeClr val="dk1"/>
                </a:solidFill>
              </a:rPr>
              <a:t>, the mode is</a:t>
            </a:r>
            <a:r>
              <a:rPr lang="en" b="1">
                <a:solidFill>
                  <a:schemeClr val="dk1"/>
                </a:solidFill>
              </a:rPr>
              <a:t> 4.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 b="1">
                <a:solidFill>
                  <a:schemeClr val="dk1"/>
                </a:solidFill>
              </a:rPr>
              <a:t>Example 2: </a:t>
            </a:r>
            <a:r>
              <a:rPr lang="en">
                <a:solidFill>
                  <a:schemeClr val="dk1"/>
                </a:solidFill>
              </a:rPr>
              <a:t>For the dataset </a:t>
            </a:r>
            <a:r>
              <a:rPr lang="en" b="1">
                <a:solidFill>
                  <a:schemeClr val="dk1"/>
                </a:solidFill>
              </a:rPr>
              <a:t>[1, 2, 3, 4, 5]</a:t>
            </a:r>
            <a:r>
              <a:rPr lang="en">
                <a:solidFill>
                  <a:schemeClr val="dk1"/>
                </a:solidFill>
              </a:rPr>
              <a:t>, there is</a:t>
            </a:r>
            <a:r>
              <a:rPr lang="en" b="1">
                <a:solidFill>
                  <a:schemeClr val="dk1"/>
                </a:solidFill>
              </a:rPr>
              <a:t> no mode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4" name="Google Shape;20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/>
              <a:t>Quartiles and Interquartile Range (IQR)</a:t>
            </a:r>
            <a:endParaRPr sz="3020" b="1"/>
          </a:p>
        </p:txBody>
      </p:sp>
      <p:sp>
        <p:nvSpPr>
          <p:cNvPr id="210" name="Google Shape;210;p12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 b="1">
                <a:solidFill>
                  <a:schemeClr val="dk1"/>
                </a:solidFill>
              </a:rPr>
              <a:t>Quartiles:</a:t>
            </a:r>
            <a:r>
              <a:rPr lang="en">
                <a:solidFill>
                  <a:schemeClr val="dk1"/>
                </a:solidFill>
              </a:rPr>
              <a:t>Before understanding the IQR, we need to grasp the concept of quartiles.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>
                <a:solidFill>
                  <a:schemeClr val="dk1"/>
                </a:solidFill>
              </a:rPr>
              <a:t>Quartiles divide a dataset into </a:t>
            </a:r>
            <a:r>
              <a:rPr lang="en" b="1">
                <a:solidFill>
                  <a:srgbClr val="FF0000"/>
                </a:solidFill>
              </a:rPr>
              <a:t>four equal parts</a:t>
            </a:r>
            <a:r>
              <a:rPr lang="en">
                <a:solidFill>
                  <a:schemeClr val="dk1"/>
                </a:solidFill>
              </a:rPr>
              <a:t>, each representing a quarter </a:t>
            </a:r>
            <a:r>
              <a:rPr lang="en" b="1">
                <a:solidFill>
                  <a:srgbClr val="FF0000"/>
                </a:solidFill>
              </a:rPr>
              <a:t>(25%)</a:t>
            </a:r>
            <a:r>
              <a:rPr lang="en">
                <a:solidFill>
                  <a:srgbClr val="FF0000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of the data.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>
                <a:solidFill>
                  <a:schemeClr val="dk1"/>
                </a:solidFill>
              </a:rPr>
              <a:t>The first quartile </a:t>
            </a:r>
            <a:r>
              <a:rPr lang="en" b="1">
                <a:solidFill>
                  <a:srgbClr val="CC0000"/>
                </a:solidFill>
              </a:rPr>
              <a:t>(Q1) </a:t>
            </a:r>
            <a:r>
              <a:rPr lang="en">
                <a:solidFill>
                  <a:schemeClr val="dk1"/>
                </a:solidFill>
              </a:rPr>
              <a:t>is the value below which </a:t>
            </a:r>
            <a:r>
              <a:rPr lang="en" b="1">
                <a:solidFill>
                  <a:srgbClr val="CC0000"/>
                </a:solidFill>
              </a:rPr>
              <a:t>25%</a:t>
            </a:r>
            <a:r>
              <a:rPr lang="en">
                <a:solidFill>
                  <a:schemeClr val="dk1"/>
                </a:solidFill>
              </a:rPr>
              <a:t> of the data falls.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The second quartile </a:t>
            </a:r>
            <a:r>
              <a:rPr lang="en" b="1">
                <a:solidFill>
                  <a:srgbClr val="CC0000"/>
                </a:solidFill>
              </a:rPr>
              <a:t>(Q2) </a:t>
            </a:r>
            <a:r>
              <a:rPr lang="en">
                <a:solidFill>
                  <a:schemeClr val="dk1"/>
                </a:solidFill>
              </a:rPr>
              <a:t>is the value below which </a:t>
            </a:r>
            <a:r>
              <a:rPr lang="en" b="1">
                <a:solidFill>
                  <a:srgbClr val="CC0000"/>
                </a:solidFill>
              </a:rPr>
              <a:t>50%</a:t>
            </a:r>
            <a:r>
              <a:rPr lang="en">
                <a:solidFill>
                  <a:schemeClr val="dk1"/>
                </a:solidFill>
              </a:rPr>
              <a:t> of the data falls. It's actually </a:t>
            </a:r>
            <a:r>
              <a:rPr lang="en" b="1">
                <a:solidFill>
                  <a:srgbClr val="CC0000"/>
                </a:solidFill>
              </a:rPr>
              <a:t>Median.</a:t>
            </a:r>
            <a:endParaRPr b="1">
              <a:solidFill>
                <a:srgbClr val="CC0000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>
                <a:solidFill>
                  <a:schemeClr val="dk1"/>
                </a:solidFill>
              </a:rPr>
              <a:t>The third quartile </a:t>
            </a:r>
            <a:r>
              <a:rPr lang="en" b="1">
                <a:solidFill>
                  <a:srgbClr val="CC0000"/>
                </a:solidFill>
              </a:rPr>
              <a:t>(Q3)</a:t>
            </a:r>
            <a:r>
              <a:rPr lang="en">
                <a:solidFill>
                  <a:schemeClr val="dk1"/>
                </a:solidFill>
              </a:rPr>
              <a:t> is the value below which </a:t>
            </a:r>
            <a:r>
              <a:rPr lang="en" b="1">
                <a:solidFill>
                  <a:srgbClr val="CC0000"/>
                </a:solidFill>
              </a:rPr>
              <a:t>75%</a:t>
            </a:r>
            <a:r>
              <a:rPr lang="en">
                <a:solidFill>
                  <a:schemeClr val="dk1"/>
                </a:solidFill>
              </a:rPr>
              <a:t> of the data falls.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1" name="Google Shape;21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/>
              <a:t>Finding Quartiles</a:t>
            </a:r>
            <a:endParaRPr sz="3020" b="1"/>
          </a:p>
        </p:txBody>
      </p:sp>
      <p:sp>
        <p:nvSpPr>
          <p:cNvPr id="217" name="Google Shape;217;p13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>
                <a:solidFill>
                  <a:srgbClr val="000000"/>
                </a:solidFill>
              </a:rPr>
              <a:t>To find the quartiles, first, arrange the dataset in </a:t>
            </a:r>
            <a:r>
              <a:rPr lang="en" b="1">
                <a:solidFill>
                  <a:srgbClr val="CC0000"/>
                </a:solidFill>
              </a:rPr>
              <a:t>ascending order</a:t>
            </a:r>
            <a:r>
              <a:rPr lang="en">
                <a:solidFill>
                  <a:srgbClr val="000000"/>
                </a:solidFill>
              </a:rPr>
              <a:t>.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>
                <a:solidFill>
                  <a:srgbClr val="000000"/>
                </a:solidFill>
              </a:rPr>
              <a:t>If the dataset has an odd number of values, the median is the second quartile (Q2).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>
                <a:solidFill>
                  <a:srgbClr val="000000"/>
                </a:solidFill>
              </a:rPr>
              <a:t>If the dataset has an even number of values, calculate the median of the lower and upper halves to find Q2.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8" name="Google Shape;218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/>
              <a:t>Interquartile Range (IQR):</a:t>
            </a:r>
            <a:endParaRPr b="1"/>
          </a:p>
        </p:txBody>
      </p:sp>
      <p:sp>
        <p:nvSpPr>
          <p:cNvPr id="224" name="Google Shape;224;p14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>
                <a:solidFill>
                  <a:schemeClr val="dk1"/>
                </a:solidFill>
              </a:rPr>
              <a:t>The IQR represents the difference between the first and third quartiles(Q1 and Q3).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>
                <a:solidFill>
                  <a:schemeClr val="dk1"/>
                </a:solidFill>
              </a:rPr>
              <a:t>It indicates the spread of the middle 50% of the data.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endParaRPr>
              <a:solidFill>
                <a:schemeClr val="dk1"/>
              </a:solidFill>
            </a:endParaRPr>
          </a:p>
          <a:p>
            <a:pPr marL="2286000" lvl="0" indent="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 b="1">
                <a:solidFill>
                  <a:srgbClr val="CC0000"/>
                </a:solidFill>
              </a:rPr>
              <a:t>Formula: IQR = Q3 - Q1</a:t>
            </a:r>
            <a:endParaRPr b="1">
              <a:solidFill>
                <a:srgbClr val="CC0000"/>
              </a:solidFill>
            </a:endParaRPr>
          </a:p>
        </p:txBody>
      </p:sp>
      <p:sp>
        <p:nvSpPr>
          <p:cNvPr id="225" name="Google Shape;22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b="1"/>
              <a:t>Interquartile Range (IQR):</a:t>
            </a:r>
            <a:endParaRPr b="1"/>
          </a:p>
        </p:txBody>
      </p:sp>
      <p:sp>
        <p:nvSpPr>
          <p:cNvPr id="231" name="Google Shape;2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pic>
        <p:nvPicPr>
          <p:cNvPr id="232" name="Google Shape;23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1623726"/>
            <a:ext cx="8351626" cy="291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/>
              <a:t>Interpretation of the IQR</a:t>
            </a:r>
            <a:endParaRPr sz="3020" b="1"/>
          </a:p>
        </p:txBody>
      </p:sp>
      <p:sp>
        <p:nvSpPr>
          <p:cNvPr id="238" name="Google Shape;238;p16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>
                <a:solidFill>
                  <a:schemeClr val="dk1"/>
                </a:solidFill>
              </a:rPr>
              <a:t>The IQR provides information about the </a:t>
            </a:r>
            <a:r>
              <a:rPr lang="en" b="1">
                <a:solidFill>
                  <a:srgbClr val="CC0000"/>
                </a:solidFill>
              </a:rPr>
              <a:t>spread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 b="1">
                <a:solidFill>
                  <a:srgbClr val="CC0000"/>
                </a:solidFill>
              </a:rPr>
              <a:t>variability</a:t>
            </a:r>
            <a:r>
              <a:rPr lang="en">
                <a:solidFill>
                  <a:schemeClr val="dk1"/>
                </a:solidFill>
              </a:rPr>
              <a:t> of the data.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>
                <a:solidFill>
                  <a:schemeClr val="dk1"/>
                </a:solidFill>
              </a:rPr>
              <a:t>A</a:t>
            </a:r>
            <a:r>
              <a:rPr lang="en" b="1">
                <a:solidFill>
                  <a:srgbClr val="CC0000"/>
                </a:solidFill>
              </a:rPr>
              <a:t> larger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 b="1">
                <a:solidFill>
                  <a:srgbClr val="CC0000"/>
                </a:solidFill>
              </a:rPr>
              <a:t>IQR </a:t>
            </a:r>
            <a:r>
              <a:rPr lang="en">
                <a:solidFill>
                  <a:schemeClr val="dk1"/>
                </a:solidFill>
              </a:rPr>
              <a:t>indicates a </a:t>
            </a:r>
            <a:r>
              <a:rPr lang="en" b="1">
                <a:solidFill>
                  <a:srgbClr val="CC0000"/>
                </a:solidFill>
              </a:rPr>
              <a:t>greater spread</a:t>
            </a:r>
            <a:r>
              <a:rPr lang="en">
                <a:solidFill>
                  <a:schemeClr val="dk1"/>
                </a:solidFill>
              </a:rPr>
              <a:t> and more variability in the dataset.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>
                <a:solidFill>
                  <a:schemeClr val="dk1"/>
                </a:solidFill>
              </a:rPr>
              <a:t>Conversely, a </a:t>
            </a:r>
            <a:r>
              <a:rPr lang="en" b="1">
                <a:solidFill>
                  <a:srgbClr val="CC0000"/>
                </a:solidFill>
              </a:rPr>
              <a:t>smaller IQR</a:t>
            </a:r>
            <a:r>
              <a:rPr lang="en">
                <a:solidFill>
                  <a:schemeClr val="dk1"/>
                </a:solidFill>
              </a:rPr>
              <a:t> suggests a </a:t>
            </a:r>
            <a:r>
              <a:rPr lang="en" b="1">
                <a:solidFill>
                  <a:srgbClr val="CC0000"/>
                </a:solidFill>
              </a:rPr>
              <a:t>less spread</a:t>
            </a:r>
            <a:r>
              <a:rPr lang="en">
                <a:solidFill>
                  <a:schemeClr val="dk1"/>
                </a:solidFill>
              </a:rPr>
              <a:t> and less variability.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9" name="Google Shape;239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/>
              <a:t>Applications</a:t>
            </a:r>
            <a:endParaRPr sz="3020" b="1"/>
          </a:p>
        </p:txBody>
      </p:sp>
      <p:sp>
        <p:nvSpPr>
          <p:cNvPr id="245" name="Google Shape;245;p17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>
                <a:solidFill>
                  <a:schemeClr val="dk1"/>
                </a:solidFill>
              </a:rPr>
              <a:t>The IQR is widely used in various fields, </a:t>
            </a:r>
            <a:r>
              <a:rPr lang="en" b="1">
                <a:solidFill>
                  <a:srgbClr val="CC0000"/>
                </a:solidFill>
              </a:rPr>
              <a:t>including economics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 b="1">
                <a:solidFill>
                  <a:srgbClr val="CC0000"/>
                </a:solidFill>
              </a:rPr>
              <a:t>healthcare</a:t>
            </a:r>
            <a:r>
              <a:rPr lang="en">
                <a:solidFill>
                  <a:schemeClr val="dk1"/>
                </a:solidFill>
              </a:rPr>
              <a:t>, and </a:t>
            </a:r>
            <a:r>
              <a:rPr lang="en" b="1">
                <a:solidFill>
                  <a:srgbClr val="CC0000"/>
                </a:solidFill>
              </a:rPr>
              <a:t>social sciences.</a:t>
            </a:r>
            <a:endParaRPr b="1">
              <a:solidFill>
                <a:srgbClr val="CC0000"/>
              </a:solidFill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None/>
            </a:pPr>
            <a:r>
              <a:rPr lang="en">
                <a:solidFill>
                  <a:schemeClr val="dk1"/>
                </a:solidFill>
              </a:rPr>
              <a:t>It helps compare and analyze data distributions, identify </a:t>
            </a:r>
            <a:r>
              <a:rPr lang="en" b="1">
                <a:solidFill>
                  <a:srgbClr val="CC0000"/>
                </a:solidFill>
              </a:rPr>
              <a:t>abnormal data points</a:t>
            </a:r>
            <a:r>
              <a:rPr lang="en">
                <a:solidFill>
                  <a:schemeClr val="dk1"/>
                </a:solidFill>
              </a:rPr>
              <a:t>, and detect </a:t>
            </a:r>
            <a:r>
              <a:rPr lang="en" b="1">
                <a:solidFill>
                  <a:srgbClr val="CC0000"/>
                </a:solidFill>
              </a:rPr>
              <a:t>potential patterns</a:t>
            </a:r>
            <a:r>
              <a:rPr lang="en">
                <a:solidFill>
                  <a:schemeClr val="dk1"/>
                </a:solidFill>
              </a:rPr>
              <a:t> or </a:t>
            </a:r>
            <a:r>
              <a:rPr lang="en" b="1">
                <a:solidFill>
                  <a:srgbClr val="CC0000"/>
                </a:solidFill>
              </a:rPr>
              <a:t>trends.</a:t>
            </a:r>
            <a:endParaRPr b="1">
              <a:solidFill>
                <a:srgbClr val="CC0000"/>
              </a:solidFill>
            </a:endParaRPr>
          </a:p>
        </p:txBody>
      </p:sp>
      <p:sp>
        <p:nvSpPr>
          <p:cNvPr id="246" name="Google Shape;246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8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Dispersion is the spread of </a:t>
            </a:r>
            <a:r>
              <a:rPr lang="en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data points 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around a </a:t>
            </a:r>
            <a:r>
              <a:rPr lang="en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central value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indicating variability within a dataset.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4327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Char char="●"/>
            </a:pPr>
            <a:r>
              <a:rPr lang="en">
                <a:solidFill>
                  <a:schemeClr val="dk1"/>
                </a:solidFill>
              </a:rPr>
              <a:t>Increased difficulty in </a:t>
            </a:r>
            <a:r>
              <a:rPr lang="en" b="1">
                <a:solidFill>
                  <a:srgbClr val="CC0000"/>
                </a:solidFill>
              </a:rPr>
              <a:t>capturing patterns</a:t>
            </a:r>
            <a:r>
              <a:rPr lang="en">
                <a:solidFill>
                  <a:schemeClr val="dk1"/>
                </a:solidFill>
              </a:rPr>
              <a:t>.</a:t>
            </a:r>
            <a:endParaRPr/>
          </a:p>
          <a:p>
            <a:pPr marL="457200" lvl="0" indent="-334327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Char char="●"/>
            </a:pPr>
            <a:r>
              <a:rPr lang="en">
                <a:solidFill>
                  <a:schemeClr val="dk1"/>
                </a:solidFill>
              </a:rPr>
              <a:t>Increased risk of </a:t>
            </a:r>
            <a:r>
              <a:rPr lang="en" b="1">
                <a:solidFill>
                  <a:srgbClr val="CC0000"/>
                </a:solidFill>
              </a:rPr>
              <a:t>overfitting</a:t>
            </a:r>
            <a:r>
              <a:rPr lang="en">
                <a:solidFill>
                  <a:schemeClr val="dk1"/>
                </a:solidFill>
              </a:rPr>
              <a:t>.</a:t>
            </a:r>
            <a:endParaRPr/>
          </a:p>
          <a:p>
            <a:pPr marL="457200" lvl="0" indent="-334327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Char char="●"/>
            </a:pPr>
            <a:r>
              <a:rPr lang="en">
                <a:solidFill>
                  <a:schemeClr val="dk1"/>
                </a:solidFill>
              </a:rPr>
              <a:t>Reduced predictive </a:t>
            </a:r>
            <a:r>
              <a:rPr lang="en" b="1">
                <a:solidFill>
                  <a:srgbClr val="CC0000"/>
                </a:solidFill>
              </a:rPr>
              <a:t>accuracy.</a:t>
            </a:r>
            <a:endParaRPr/>
          </a:p>
          <a:p>
            <a:pPr marL="457200" lvl="0" indent="-334327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Char char="●"/>
            </a:pPr>
            <a:r>
              <a:rPr lang="en">
                <a:solidFill>
                  <a:schemeClr val="dk1"/>
                </a:solidFill>
              </a:rPr>
              <a:t>Impact on </a:t>
            </a:r>
            <a:r>
              <a:rPr lang="en" b="1">
                <a:solidFill>
                  <a:srgbClr val="CC0000"/>
                </a:solidFill>
              </a:rPr>
              <a:t>outlier handling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</a:pPr>
            <a:endParaRPr>
              <a:solidFill>
                <a:srgbClr val="0C0C0C"/>
              </a:solidFill>
            </a:endParaRPr>
          </a:p>
        </p:txBody>
      </p:sp>
      <p:sp>
        <p:nvSpPr>
          <p:cNvPr id="252" name="Google Shape;25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sp>
        <p:nvSpPr>
          <p:cNvPr id="253" name="Google Shape;253;p18"/>
          <p:cNvSpPr txBox="1">
            <a:spLocks noGrp="1"/>
          </p:cNvSpPr>
          <p:nvPr>
            <p:ph type="title"/>
          </p:nvPr>
        </p:nvSpPr>
        <p:spPr>
          <a:xfrm>
            <a:off x="311700" y="223544"/>
            <a:ext cx="6490879" cy="10156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"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we care about Dispersion? </a:t>
            </a:r>
            <a:endParaRPr sz="3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0" y="0"/>
            <a:ext cx="4151313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07005" y="2371481"/>
            <a:ext cx="3758483" cy="26334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1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 b="1"/>
              <a:t>Proximity:</a:t>
            </a:r>
            <a:endParaRPr sz="3000" b="1"/>
          </a:p>
        </p:txBody>
      </p:sp>
      <p:sp>
        <p:nvSpPr>
          <p:cNvPr id="261" name="Google Shape;261;p19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4327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Char char="●"/>
            </a:pPr>
            <a:r>
              <a:rPr lang="en">
                <a:solidFill>
                  <a:srgbClr val="0C0C0C"/>
                </a:solidFill>
              </a:rPr>
              <a:t>In machine learning, "</a:t>
            </a:r>
            <a:r>
              <a:rPr lang="en" b="1">
                <a:solidFill>
                  <a:srgbClr val="FF0000"/>
                </a:solidFill>
              </a:rPr>
              <a:t>proximity</a:t>
            </a:r>
            <a:r>
              <a:rPr lang="en">
                <a:solidFill>
                  <a:srgbClr val="0C0C0C"/>
                </a:solidFill>
              </a:rPr>
              <a:t>"</a:t>
            </a:r>
            <a:r>
              <a:rPr lang="en"/>
              <a:t> </a:t>
            </a:r>
            <a:r>
              <a:rPr lang="en">
                <a:solidFill>
                  <a:srgbClr val="0C0C0C"/>
                </a:solidFill>
              </a:rPr>
              <a:t>refers to the </a:t>
            </a:r>
            <a:r>
              <a:rPr lang="en" b="1">
                <a:solidFill>
                  <a:srgbClr val="FF0000"/>
                </a:solidFill>
              </a:rPr>
              <a:t>measure of similarity </a:t>
            </a:r>
            <a:r>
              <a:rPr lang="en">
                <a:solidFill>
                  <a:srgbClr val="0C0C0C"/>
                </a:solidFill>
              </a:rPr>
              <a:t>or </a:t>
            </a:r>
            <a:r>
              <a:rPr lang="en" b="1">
                <a:solidFill>
                  <a:srgbClr val="FF0000"/>
                </a:solidFill>
              </a:rPr>
              <a:t>closeness between data points </a:t>
            </a:r>
            <a:r>
              <a:rPr lang="en">
                <a:solidFill>
                  <a:srgbClr val="0C0C0C"/>
                </a:solidFill>
              </a:rPr>
              <a:t>within a dataset. It is often used in clustering algorithms and nearest neighbor methods to determine how closely related or similar two data points are to each other based on certain features or attributes.</a:t>
            </a:r>
            <a:endParaRPr>
              <a:solidFill>
                <a:srgbClr val="0C0C0C"/>
              </a:solidFill>
            </a:endParaRPr>
          </a:p>
        </p:txBody>
      </p:sp>
      <p:sp>
        <p:nvSpPr>
          <p:cNvPr id="262" name="Google Shape;26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 b="1"/>
              <a:t>Data Preprocessing</a:t>
            </a:r>
            <a:endParaRPr sz="3000" b="1"/>
          </a:p>
        </p:txBody>
      </p:sp>
      <p:sp>
        <p:nvSpPr>
          <p:cNvPr id="268" name="Google Shape;268;p20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4327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Char char="●"/>
            </a:pPr>
            <a:r>
              <a:rPr lang="en" b="1">
                <a:solidFill>
                  <a:srgbClr val="0C0C0C"/>
                </a:solidFill>
              </a:rPr>
              <a:t>Steps</a:t>
            </a:r>
            <a:r>
              <a:rPr lang="en" b="1"/>
              <a:t>:</a:t>
            </a:r>
            <a:endParaRPr b="1"/>
          </a:p>
        </p:txBody>
      </p:sp>
      <p:sp>
        <p:nvSpPr>
          <p:cNvPr id="269" name="Google Shape;26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  <p:pic>
        <p:nvPicPr>
          <p:cNvPr id="270" name="Google Shape;270;p20"/>
          <p:cNvPicPr preferRelativeResize="0"/>
          <p:nvPr/>
        </p:nvPicPr>
        <p:blipFill rotWithShape="1">
          <a:blip r:embed="rId3">
            <a:alphaModFix/>
          </a:blip>
          <a:srcRect t="7765" b="9385"/>
          <a:stretch/>
        </p:blipFill>
        <p:spPr>
          <a:xfrm>
            <a:off x="2032987" y="1207363"/>
            <a:ext cx="4616388" cy="3849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 b="1">
                <a:solidFill>
                  <a:srgbClr val="0C0C0C"/>
                </a:solidFill>
              </a:rPr>
              <a:t>Data Integration</a:t>
            </a:r>
            <a:endParaRPr sz="3000" b="1"/>
          </a:p>
        </p:txBody>
      </p:sp>
      <p:sp>
        <p:nvSpPr>
          <p:cNvPr id="283" name="Google Shape;283;p34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4327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Char char="●"/>
            </a:pPr>
            <a:r>
              <a:rPr lang="en">
                <a:solidFill>
                  <a:srgbClr val="0C0C0C"/>
                </a:solidFill>
              </a:rPr>
              <a:t>Data integration is the process of </a:t>
            </a:r>
            <a:r>
              <a:rPr lang="en" b="1">
                <a:solidFill>
                  <a:srgbClr val="FF0000"/>
                </a:solidFill>
              </a:rPr>
              <a:t>combining data </a:t>
            </a:r>
            <a:r>
              <a:rPr lang="en">
                <a:solidFill>
                  <a:srgbClr val="0C0C0C"/>
                </a:solidFill>
              </a:rPr>
              <a:t>from </a:t>
            </a:r>
            <a:r>
              <a:rPr lang="en" b="1">
                <a:solidFill>
                  <a:srgbClr val="FF0000"/>
                </a:solidFill>
              </a:rPr>
              <a:t>various sources </a:t>
            </a:r>
            <a:r>
              <a:rPr lang="en">
                <a:solidFill>
                  <a:srgbClr val="0C0C0C"/>
                </a:solidFill>
              </a:rPr>
              <a:t>into a single dataset. The </a:t>
            </a:r>
            <a:r>
              <a:rPr lang="en" b="1">
                <a:solidFill>
                  <a:srgbClr val="FF0000"/>
                </a:solidFill>
              </a:rPr>
              <a:t>goal</a:t>
            </a:r>
            <a:r>
              <a:rPr lang="en">
                <a:solidFill>
                  <a:srgbClr val="0C0C0C"/>
                </a:solidFill>
              </a:rPr>
              <a:t> is to provide users with </a:t>
            </a:r>
            <a:r>
              <a:rPr lang="en" b="1">
                <a:solidFill>
                  <a:srgbClr val="FF0000"/>
                </a:solidFill>
              </a:rPr>
              <a:t>consistent access </a:t>
            </a:r>
            <a:r>
              <a:rPr lang="en">
                <a:solidFill>
                  <a:srgbClr val="0C0C0C"/>
                </a:solidFill>
              </a:rPr>
              <a:t>to data across different subjects and structure types. </a:t>
            </a:r>
            <a:endParaRPr/>
          </a:p>
          <a:p>
            <a:pPr marL="457200" lvl="0" indent="-334327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Char char="●"/>
            </a:pPr>
            <a:r>
              <a:rPr lang="en"/>
              <a:t/>
            </a:r>
            <a:br>
              <a:rPr lang="en"/>
            </a:br>
            <a:endParaRPr/>
          </a:p>
        </p:txBody>
      </p:sp>
      <p:sp>
        <p:nvSpPr>
          <p:cNvPr id="284" name="Google Shape;284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pic>
        <p:nvPicPr>
          <p:cNvPr id="285" name="Google Shape;285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06680" y="2624378"/>
            <a:ext cx="4852745" cy="2432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 b="1"/>
              <a:t>Data Reduction</a:t>
            </a:r>
            <a:endParaRPr sz="3000" b="1"/>
          </a:p>
        </p:txBody>
      </p:sp>
      <p:sp>
        <p:nvSpPr>
          <p:cNvPr id="291" name="Google Shape;291;p35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4327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65"/>
              <a:buChar char="●"/>
            </a:pPr>
            <a:r>
              <a:rPr lang="en">
                <a:solidFill>
                  <a:srgbClr val="0C0C0C"/>
                </a:solidFill>
              </a:rPr>
              <a:t>Data reduction is the </a:t>
            </a:r>
            <a:r>
              <a:rPr lang="en" b="1">
                <a:solidFill>
                  <a:srgbClr val="FF0000"/>
                </a:solidFill>
              </a:rPr>
              <a:t>process of transforming digital information into a simplified, ordered, and corrected form</a:t>
            </a:r>
            <a:r>
              <a:rPr lang="en">
                <a:solidFill>
                  <a:srgbClr val="0C0C0C"/>
                </a:solidFill>
              </a:rPr>
              <a:t>. It can be used on numerical or alphabetical information.</a:t>
            </a:r>
            <a:endParaRPr>
              <a:solidFill>
                <a:srgbClr val="0C0C0C"/>
              </a:solidFill>
            </a:endParaRPr>
          </a:p>
        </p:txBody>
      </p:sp>
      <p:sp>
        <p:nvSpPr>
          <p:cNvPr id="292" name="Google Shape;292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  <p:pic>
        <p:nvPicPr>
          <p:cNvPr id="293" name="Google Shape;293;p35"/>
          <p:cNvPicPr preferRelativeResize="0"/>
          <p:nvPr/>
        </p:nvPicPr>
        <p:blipFill rotWithShape="1">
          <a:blip r:embed="rId3">
            <a:alphaModFix/>
          </a:blip>
          <a:srcRect l="10252" t="14843" r="10252" b="24573"/>
          <a:stretch/>
        </p:blipFill>
        <p:spPr>
          <a:xfrm>
            <a:off x="2492249" y="2283917"/>
            <a:ext cx="5980209" cy="2657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 b="1"/>
              <a:t>PCA</a:t>
            </a:r>
            <a:endParaRPr sz="3000"/>
          </a:p>
        </p:txBody>
      </p:sp>
      <p:sp>
        <p:nvSpPr>
          <p:cNvPr id="299" name="Google Shape;299;p36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122873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93277"/>
              <a:buNone/>
            </a:pPr>
            <a:r>
              <a:rPr lang="en" sz="2100" dirty="0">
                <a:solidFill>
                  <a:srgbClr val="0C0C0C"/>
                </a:solidFill>
              </a:rPr>
              <a:t>Principal component analysis (</a:t>
            </a:r>
            <a:r>
              <a:rPr lang="en" sz="2100" b="1" dirty="0">
                <a:solidFill>
                  <a:srgbClr val="FF0000"/>
                </a:solidFill>
              </a:rPr>
              <a:t>PCA</a:t>
            </a:r>
            <a:r>
              <a:rPr lang="en" sz="2100" dirty="0">
                <a:solidFill>
                  <a:srgbClr val="0C0C0C"/>
                </a:solidFill>
              </a:rPr>
              <a:t>) is a </a:t>
            </a:r>
            <a:r>
              <a:rPr lang="en" sz="2100" b="1" dirty="0">
                <a:solidFill>
                  <a:srgbClr val="FF0000"/>
                </a:solidFill>
              </a:rPr>
              <a:t>statistical method that reduces a data table to its main features</a:t>
            </a:r>
            <a:r>
              <a:rPr lang="en" sz="2100" dirty="0">
                <a:solidFill>
                  <a:srgbClr val="0C0C0C"/>
                </a:solidFill>
              </a:rPr>
              <a:t>. It's a dimensionality reduction technique that's often used to reduce the size of large data sets. PCA works by </a:t>
            </a:r>
            <a:r>
              <a:rPr lang="en" sz="2100" b="1" dirty="0">
                <a:solidFill>
                  <a:srgbClr val="FF0000"/>
                </a:solidFill>
              </a:rPr>
              <a:t>linearly transforming data </a:t>
            </a:r>
            <a:r>
              <a:rPr lang="en" sz="2100" dirty="0">
                <a:solidFill>
                  <a:srgbClr val="0C0C0C"/>
                </a:solidFill>
              </a:rPr>
              <a:t>onto a new coordinate system.</a:t>
            </a:r>
            <a:endParaRPr dirty="0"/>
          </a:p>
          <a:p>
            <a:pPr marL="457200" lvl="0" indent="-228599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93277"/>
              <a:buNone/>
            </a:pPr>
            <a:endParaRPr sz="2100" dirty="0">
              <a:solidFill>
                <a:srgbClr val="0C0C0C"/>
              </a:solidFill>
            </a:endParaRPr>
          </a:p>
          <a:p>
            <a:pPr marL="122873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93277"/>
              <a:buNone/>
            </a:pPr>
            <a:r>
              <a:rPr lang="en" sz="2100" b="1" dirty="0">
                <a:solidFill>
                  <a:srgbClr val="0C0C0C"/>
                </a:solidFill>
              </a:rPr>
              <a:t>Dimensionality Reduction Technique:</a:t>
            </a:r>
            <a:endParaRPr dirty="0"/>
          </a:p>
          <a:p>
            <a:pPr marL="457200" lvl="0" indent="-334327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93277"/>
              <a:buFont typeface="Arial"/>
              <a:buChar char="•"/>
            </a:pPr>
            <a:r>
              <a:rPr lang="en" sz="2100" dirty="0" smtClean="0">
                <a:solidFill>
                  <a:srgbClr val="0C0C0C"/>
                </a:solidFill>
              </a:rPr>
              <a:t>Singular </a:t>
            </a:r>
            <a:r>
              <a:rPr lang="en" sz="2100" dirty="0">
                <a:solidFill>
                  <a:srgbClr val="0C0C0C"/>
                </a:solidFill>
              </a:rPr>
              <a:t>Value Decomposition (</a:t>
            </a:r>
            <a:r>
              <a:rPr lang="en" sz="2100" dirty="0">
                <a:solidFill>
                  <a:srgbClr val="FF0000"/>
                </a:solidFill>
              </a:rPr>
              <a:t>SVD</a:t>
            </a:r>
            <a:r>
              <a:rPr lang="en" sz="2100" dirty="0">
                <a:solidFill>
                  <a:srgbClr val="0C0C0C"/>
                </a:solidFill>
              </a:rPr>
              <a:t>):</a:t>
            </a:r>
            <a:endParaRPr dirty="0"/>
          </a:p>
          <a:p>
            <a:pPr marL="122873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3095"/>
              <a:buNone/>
            </a:pPr>
            <a:r>
              <a:rPr lang="en" sz="1900" dirty="0"/>
              <a:t/>
            </a:r>
            <a:br>
              <a:rPr lang="en" sz="1900" dirty="0"/>
            </a:br>
            <a:r>
              <a:rPr lang="en" dirty="0"/>
              <a:t/>
            </a:r>
            <a:br>
              <a:rPr lang="en" dirty="0"/>
            </a:br>
            <a:endParaRPr dirty="0"/>
          </a:p>
          <a:p>
            <a:pPr marL="457200" lvl="0" indent="-228599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8823"/>
              <a:buNone/>
            </a:pPr>
            <a:endParaRPr dirty="0"/>
          </a:p>
        </p:txBody>
      </p:sp>
      <p:sp>
        <p:nvSpPr>
          <p:cNvPr id="300" name="Google Shape;300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bc40544f1a_1_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/>
              <a:t>Next Lecture:</a:t>
            </a:r>
            <a:endParaRPr sz="3000" b="1"/>
          </a:p>
        </p:txBody>
      </p:sp>
      <p:sp>
        <p:nvSpPr>
          <p:cNvPr id="306" name="Google Shape;306;g2bc40544f1a_1_8"/>
          <p:cNvSpPr txBox="1">
            <a:spLocks noGrp="1"/>
          </p:cNvSpPr>
          <p:nvPr>
            <p:ph type="body" idx="1"/>
          </p:nvPr>
        </p:nvSpPr>
        <p:spPr>
          <a:xfrm>
            <a:off x="257325" y="1132275"/>
            <a:ext cx="8650800" cy="392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>
                <a:solidFill>
                  <a:schemeClr val="dk1"/>
                </a:solidFill>
              </a:rPr>
              <a:t>Data </a:t>
            </a:r>
            <a:r>
              <a:rPr lang="en" b="1" dirty="0">
                <a:solidFill>
                  <a:schemeClr val="dk1"/>
                </a:solidFill>
              </a:rPr>
              <a:t>Science </a:t>
            </a:r>
            <a:r>
              <a:rPr lang="en" b="1" dirty="0" smtClean="0">
                <a:solidFill>
                  <a:schemeClr val="dk1"/>
                </a:solidFill>
              </a:rPr>
              <a:t>Processes</a:t>
            </a:r>
            <a:endParaRPr b="1" dirty="0">
              <a:solidFill>
                <a:schemeClr val="dk1"/>
              </a:solidFill>
            </a:endParaRPr>
          </a:p>
        </p:txBody>
      </p:sp>
      <p:sp>
        <p:nvSpPr>
          <p:cNvPr id="307" name="Google Shape;307;g2bc40544f1a_1_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1349</Words>
  <Application>Microsoft Office PowerPoint</Application>
  <PresentationFormat>On-screen Show (16:9)</PresentationFormat>
  <Paragraphs>187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8" baseType="lpstr">
      <vt:lpstr>Arial</vt:lpstr>
      <vt:lpstr>Simple Light</vt:lpstr>
      <vt:lpstr>PowerPoint Presentation</vt:lpstr>
      <vt:lpstr>Agenda</vt:lpstr>
      <vt:lpstr>Data Science</vt:lpstr>
      <vt:lpstr>Data Science</vt:lpstr>
      <vt:lpstr>Data Science Processes</vt:lpstr>
      <vt:lpstr>Types of Data </vt:lpstr>
      <vt:lpstr>Structured Data</vt:lpstr>
      <vt:lpstr>Structured Data Examples</vt:lpstr>
      <vt:lpstr>Unstructured Data </vt:lpstr>
      <vt:lpstr>Semi-Structured Data </vt:lpstr>
      <vt:lpstr>PowerPoint Presentation</vt:lpstr>
      <vt:lpstr>Data Acquisition</vt:lpstr>
      <vt:lpstr>What is Exploratory Data Analysis (EDA)?  </vt:lpstr>
      <vt:lpstr>Importance of EDA:</vt:lpstr>
      <vt:lpstr>Steps in EDA</vt:lpstr>
      <vt:lpstr>Data Cleaning Techniques</vt:lpstr>
      <vt:lpstr>Descriptive Statistics</vt:lpstr>
      <vt:lpstr>Correlation Analysis</vt:lpstr>
      <vt:lpstr>Outliers</vt:lpstr>
      <vt:lpstr>Central Tendency </vt:lpstr>
      <vt:lpstr>Mean</vt:lpstr>
      <vt:lpstr>Median</vt:lpstr>
      <vt:lpstr>Mode</vt:lpstr>
      <vt:lpstr>Quartiles and Interquartile Range (IQR)</vt:lpstr>
      <vt:lpstr>Finding Quartiles</vt:lpstr>
      <vt:lpstr>Interquartile Range (IQR):</vt:lpstr>
      <vt:lpstr>Interquartile Range (IQR):</vt:lpstr>
      <vt:lpstr>Interpretation of the IQR</vt:lpstr>
      <vt:lpstr>Applications</vt:lpstr>
      <vt:lpstr>Why we care about Dispersion?   </vt:lpstr>
      <vt:lpstr>Proximity:</vt:lpstr>
      <vt:lpstr>Data Preprocessing</vt:lpstr>
      <vt:lpstr>Data Integration</vt:lpstr>
      <vt:lpstr>Data Reduction</vt:lpstr>
      <vt:lpstr>PCA</vt:lpstr>
      <vt:lpstr>Next Lecture: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Hope to Skills</dc:title>
  <dc:creator>Fatima</dc:creator>
  <cp:lastModifiedBy>Fatima</cp:lastModifiedBy>
  <cp:revision>4</cp:revision>
  <dcterms:modified xsi:type="dcterms:W3CDTF">2024-03-10T12:06:57Z</dcterms:modified>
</cp:coreProperties>
</file>